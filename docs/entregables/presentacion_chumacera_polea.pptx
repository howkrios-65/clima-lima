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dd48efa-b839-fa6e-d83d-8815e22dd68a}">
          <p14:sldIdLst>
            <p14:sldId id="256"/>
            <p14:sldId id="257"/>
          </p14:sldIdLst>
        </p14:section>
        <p14:section name="Problema y método" id="{191ad777-05a4-8af8-1886-8c1104fec0ea}">
          <p14:sldIdLst>
            <p14:sldId id="258"/>
            <p14:sldId id="259"/>
            <p14:sldId id="260"/>
          </p14:sldIdLst>
        </p14:section>
        <p14:section name="Análisis de causa raíz" id="{40297b0a-482f-86f7-b72a-0ad048ec0c35}">
          <p14:sldIdLst>
            <p14:sldId id="261"/>
            <p14:sldId id="262"/>
            <p14:sldId id="263"/>
            <p14:sldId id="264"/>
          </p14:sldIdLst>
        </p14:section>
        <p14:section name="Detección y pronóstico" id="{e344c138-81bd-21a6-61ee-301d820275fa}">
          <p14:sldIdLst>
            <p14:sldId id="265"/>
            <p14:sldId id="266"/>
            <p14:sldId id="267"/>
            <p14:sldId id="268"/>
            <p14:sldId id="269"/>
          </p14:sldIdLst>
        </p14:section>
        <p14:section name="Normas, brechas y plan" id="{46379b33-a67c-160c-8212-34d051da7b4b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tipo de fuente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 leídos</c:v>
                </c:pt>
              </c:strCache>
            </c:strRef>
          </c:tx>
          <c:spPr>
            <a:solidFill>
              <a:srgbClr val="5B9F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Artículos arbitrados</c:v>
                  </c:pt>
                  <c:pt idx="1">
                    <c:v>Datos y repositorios</c:v>
                  </c:pt>
                  <c:pt idx="2">
                    <c:v>Preprints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año de publicación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</c:v>
                </c:pt>
              </c:strCache>
            </c:strRef>
          </c:tx>
          <c:spPr>
            <a:solidFill>
              <a:srgbClr val="6FB9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1988</c:v>
                  </c:pt>
                  <c:pt idx="1">
                    <c:v>2008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4</c:v>
                </c:pt>
                <c:pt idx="8">
                  <c:v>10</c:v>
                </c:pt>
                <c:pt idx="9">
                  <c:v>7</c:v>
                </c:pt>
                <c:pt idx="10">
                  <c:v>11</c:v>
                </c:pt>
                <c:pt idx="1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MAE del tiempo a la falla por modelo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(min)</c:v>
                </c:pt>
              </c:strCache>
            </c:strRef>
          </c:tx>
          <c:spPr>
            <a:solidFill>
              <a:srgbClr val="5B9FC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LASSO (sin censura)</c:v>
                  </c:pt>
                  <c:pt idx="1">
                    <c:v>CoxPH</c:v>
                  </c:pt>
                  <c:pt idx="2">
                    <c:v>GBSA</c:v>
                  </c:pt>
                  <c:pt idx="3">
                    <c:v>RSF</c:v>
                  </c:pt>
                  <c:pt idx="4">
                    <c:v>MTLR</c:v>
                  </c:pt>
                  <c:pt idx="5">
                    <c:v>BNNSurv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18.5</c:v>
                </c:pt>
                <c:pt idx="1">
                  <c:v>14.7</c:v>
                </c:pt>
                <c:pt idx="2">
                  <c:v>17.4</c:v>
                </c:pt>
                <c:pt idx="3">
                  <c:v>12.6</c:v>
                </c:pt>
                <c:pt idx="4">
                  <c:v>13.8</c:v>
                </c:pt>
                <c:pt idx="5">
                  <c:v>14.2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Exactitud balanceada media (%) según la partición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Pliegues por carga</c:v>
                </c:pt>
              </c:strCache>
            </c:strRef>
          </c:tx>
          <c:spPr>
            <a:solidFill>
              <a:srgbClr val="5B9FC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Afinado completo ImageNet</c:v>
                  </c:pt>
                  <c:pt idx="1">
                    <c:v>Afinado completo VibNet</c:v>
                  </c:pt>
                  <c:pt idx="2">
                    <c:v>Desde cero</c:v>
                  </c:pt>
                  <c:pt idx="3">
                    <c:v>Afinado parcial VibNet</c:v>
                  </c:pt>
                  <c:pt idx="4">
                    <c:v>Afinado parcial ImageNet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97.58</c:v>
                </c:pt>
                <c:pt idx="1">
                  <c:v>97.39</c:v>
                </c:pt>
                <c:pt idx="2">
                  <c:v>96.84</c:v>
                </c:pt>
                <c:pt idx="3">
                  <c:v>95.66</c:v>
                </c:pt>
                <c:pt idx="4">
                  <c:v>90.04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Pliegues por severidad</c:v>
                </c:pt>
              </c:strCache>
            </c:strRef>
          </c:tx>
          <c:spPr>
            <a:solidFill>
              <a:srgbClr val="F0B78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Afinado completo ImageNet</c:v>
                  </c:pt>
                  <c:pt idx="1">
                    <c:v>Afinado completo VibNet</c:v>
                  </c:pt>
                  <c:pt idx="2">
                    <c:v>Desde cero</c:v>
                  </c:pt>
                  <c:pt idx="3">
                    <c:v>Afinado parcial VibNet</c:v>
                  </c:pt>
                  <c:pt idx="4">
                    <c:v>Afinado parcial ImageNet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64.38</c:v>
                </c:pt>
                <c:pt idx="1">
                  <c:v>66.57</c:v>
                </c:pt>
                <c:pt idx="2">
                  <c:v>64.35</c:v>
                </c:pt>
                <c:pt idx="3">
                  <c:v>66.88</c:v>
                </c:pt>
                <c:pt idx="4">
                  <c:v>58.26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13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Simulación ilustrativa: tasa de falla por 1000 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2313F"/>
            </a:solidFill>
            <a:ln w="25400" cap="flat">
              <a:solidFill>
                <a:srgbClr val="2231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313F"/>
              </a:solidFill>
              <a:ln w="9525" cap="flat">
                <a:solidFill>
                  <a:srgbClr val="2231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600</c:v>
                  </c:pt>
                  <c:pt idx="1">
                    <c:v>1200</c:v>
                  </c:pt>
                  <c:pt idx="2">
                    <c:v>1800</c:v>
                  </c:pt>
                  <c:pt idx="3">
                    <c:v>2400</c:v>
                  </c:pt>
                  <c:pt idx="4">
                    <c:v>3000</c:v>
                  </c:pt>
                  <c:pt idx="5">
                    <c:v>3600</c:v>
                  </c:pt>
                  <c:pt idx="6">
                    <c:v>4200</c:v>
                  </c:pt>
                  <c:pt idx="7">
                    <c:v>4800</c:v>
                  </c:pt>
                  <c:pt idx="8">
                    <c:v>5400</c:v>
                  </c:pt>
                  <c:pt idx="9">
                    <c:v>6000</c:v>
                  </c:pt>
                  <c:pt idx="10">
                    <c:v>6600</c:v>
                  </c:pt>
                  <c:pt idx="11">
                    <c:v>7200</c:v>
                  </c:pt>
                  <c:pt idx="12">
                    <c:v>7800</c:v>
                  </c:pt>
                  <c:pt idx="13">
                    <c:v>8400</c:v>
                  </c:pt>
                  <c:pt idx="14">
                    <c:v>9000</c:v>
                  </c:pt>
                  <c:pt idx="15">
                    <c:v>9600</c:v>
                  </c:pt>
                  <c:pt idx="16">
                    <c:v>10200</c:v>
                  </c:pt>
                  <c:pt idx="17">
                    <c:v>10800</c:v>
                  </c:pt>
                  <c:pt idx="18">
                    <c:v>11400</c:v>
                  </c:pt>
                  <c:pt idx="19">
                    <c:v>12000</c:v>
                  </c:pt>
                  <c:pt idx="20">
                    <c:v>12600</c:v>
                  </c:pt>
                  <c:pt idx="21">
                    <c:v>13200</c:v>
                  </c:pt>
                  <c:pt idx="22">
                    <c:v>13800</c:v>
                  </c:pt>
                  <c:pt idx="23">
                    <c:v>14400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0.459</c:v>
                </c:pt>
                <c:pt idx="1">
                  <c:v>0.341</c:v>
                </c:pt>
                <c:pt idx="2">
                  <c:v>0.293</c:v>
                </c:pt>
                <c:pt idx="3">
                  <c:v>0.268</c:v>
                </c:pt>
                <c:pt idx="4">
                  <c:v>0.258</c:v>
                </c:pt>
                <c:pt idx="5">
                  <c:v>0.256</c:v>
                </c:pt>
                <c:pt idx="6">
                  <c:v>0.262</c:v>
                </c:pt>
                <c:pt idx="7">
                  <c:v>0.275</c:v>
                </c:pt>
                <c:pt idx="8">
                  <c:v>0.295</c:v>
                </c:pt>
                <c:pt idx="9">
                  <c:v>0.32</c:v>
                </c:pt>
                <c:pt idx="10">
                  <c:v>0.352</c:v>
                </c:pt>
                <c:pt idx="11">
                  <c:v>0.39</c:v>
                </c:pt>
                <c:pt idx="12">
                  <c:v>0.435</c:v>
                </c:pt>
                <c:pt idx="13">
                  <c:v>0.486</c:v>
                </c:pt>
                <c:pt idx="14">
                  <c:v>0.544</c:v>
                </c:pt>
                <c:pt idx="15">
                  <c:v>0.609</c:v>
                </c:pt>
                <c:pt idx="16">
                  <c:v>0.681</c:v>
                </c:pt>
                <c:pt idx="17">
                  <c:v>0.76</c:v>
                </c:pt>
                <c:pt idx="18">
                  <c:v>0.846</c:v>
                </c:pt>
                <c:pt idx="19">
                  <c:v>0.94</c:v>
                </c:pt>
                <c:pt idx="20">
                  <c:v>1.041</c:v>
                </c:pt>
                <c:pt idx="21">
                  <c:v>1.15</c:v>
                </c:pt>
                <c:pt idx="22">
                  <c:v>1.267</c:v>
                </c:pt>
                <c:pt idx="23">
                  <c:v>1.393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Mortalidad infantil</c:v>
                </c:pt>
              </c:strCache>
            </c:strRef>
          </c:tx>
          <c:spPr>
            <a:solidFill>
              <a:srgbClr val="F0B784"/>
            </a:solidFill>
            <a:ln w="25400" cap="flat">
              <a:solidFill>
                <a:srgbClr val="F0B7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0B784"/>
              </a:solidFill>
              <a:ln w="9525" cap="flat">
                <a:solidFill>
                  <a:srgbClr val="F0B7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600</c:v>
                  </c:pt>
                  <c:pt idx="1">
                    <c:v>1200</c:v>
                  </c:pt>
                  <c:pt idx="2">
                    <c:v>1800</c:v>
                  </c:pt>
                  <c:pt idx="3">
                    <c:v>2400</c:v>
                  </c:pt>
                  <c:pt idx="4">
                    <c:v>3000</c:v>
                  </c:pt>
                  <c:pt idx="5">
                    <c:v>3600</c:v>
                  </c:pt>
                  <c:pt idx="6">
                    <c:v>4200</c:v>
                  </c:pt>
                  <c:pt idx="7">
                    <c:v>4800</c:v>
                  </c:pt>
                  <c:pt idx="8">
                    <c:v>5400</c:v>
                  </c:pt>
                  <c:pt idx="9">
                    <c:v>6000</c:v>
                  </c:pt>
                  <c:pt idx="10">
                    <c:v>6600</c:v>
                  </c:pt>
                  <c:pt idx="11">
                    <c:v>7200</c:v>
                  </c:pt>
                  <c:pt idx="12">
                    <c:v>7800</c:v>
                  </c:pt>
                  <c:pt idx="13">
                    <c:v>8400</c:v>
                  </c:pt>
                  <c:pt idx="14">
                    <c:v>9000</c:v>
                  </c:pt>
                  <c:pt idx="15">
                    <c:v>9600</c:v>
                  </c:pt>
                  <c:pt idx="16">
                    <c:v>10200</c:v>
                  </c:pt>
                  <c:pt idx="17">
                    <c:v>10800</c:v>
                  </c:pt>
                  <c:pt idx="18">
                    <c:v>11400</c:v>
                  </c:pt>
                  <c:pt idx="19">
                    <c:v>12000</c:v>
                  </c:pt>
                  <c:pt idx="20">
                    <c:v>12600</c:v>
                  </c:pt>
                  <c:pt idx="21">
                    <c:v>13200</c:v>
                  </c:pt>
                  <c:pt idx="22">
                    <c:v>13800</c:v>
                  </c:pt>
                  <c:pt idx="23">
                    <c:v>14400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0.408</c:v>
                </c:pt>
                <c:pt idx="1">
                  <c:v>0.289</c:v>
                </c:pt>
                <c:pt idx="2">
                  <c:v>0.236</c:v>
                </c:pt>
                <c:pt idx="3">
                  <c:v>0.204</c:v>
                </c:pt>
                <c:pt idx="4">
                  <c:v>0.183</c:v>
                </c:pt>
                <c:pt idx="5">
                  <c:v>0.167</c:v>
                </c:pt>
                <c:pt idx="6">
                  <c:v>0.154</c:v>
                </c:pt>
                <c:pt idx="7">
                  <c:v>0.144</c:v>
                </c:pt>
                <c:pt idx="8">
                  <c:v>0.136</c:v>
                </c:pt>
                <c:pt idx="9">
                  <c:v>0.129</c:v>
                </c:pt>
                <c:pt idx="10">
                  <c:v>0.123</c:v>
                </c:pt>
                <c:pt idx="11">
                  <c:v>0.118</c:v>
                </c:pt>
                <c:pt idx="12">
                  <c:v>0.113</c:v>
                </c:pt>
                <c:pt idx="13">
                  <c:v>0.109</c:v>
                </c:pt>
                <c:pt idx="14">
                  <c:v>0.105</c:v>
                </c:pt>
                <c:pt idx="15">
                  <c:v>0.102</c:v>
                </c:pt>
                <c:pt idx="16">
                  <c:v>0.099</c:v>
                </c:pt>
                <c:pt idx="17">
                  <c:v>0.096</c:v>
                </c:pt>
                <c:pt idx="18">
                  <c:v>0.094</c:v>
                </c:pt>
                <c:pt idx="19">
                  <c:v>0.091</c:v>
                </c:pt>
                <c:pt idx="20">
                  <c:v>0.089</c:v>
                </c:pt>
                <c:pt idx="21">
                  <c:v>0.087</c:v>
                </c:pt>
                <c:pt idx="22">
                  <c:v>0.085</c:v>
                </c:pt>
                <c:pt idx="23">
                  <c:v>0.083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Azar</c:v>
                </c:pt>
              </c:strCache>
            </c:strRef>
          </c:tx>
          <c:spPr>
            <a:solidFill>
              <a:srgbClr val="6FB98D"/>
            </a:solidFill>
            <a:ln w="25400" cap="flat">
              <a:solidFill>
                <a:srgbClr val="6FB9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FB98D"/>
              </a:solidFill>
              <a:ln w="9525" cap="flat">
                <a:solidFill>
                  <a:srgbClr val="6FB9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600</c:v>
                  </c:pt>
                  <c:pt idx="1">
                    <c:v>1200</c:v>
                  </c:pt>
                  <c:pt idx="2">
                    <c:v>1800</c:v>
                  </c:pt>
                  <c:pt idx="3">
                    <c:v>2400</c:v>
                  </c:pt>
                  <c:pt idx="4">
                    <c:v>3000</c:v>
                  </c:pt>
                  <c:pt idx="5">
                    <c:v>3600</c:v>
                  </c:pt>
                  <c:pt idx="6">
                    <c:v>4200</c:v>
                  </c:pt>
                  <c:pt idx="7">
                    <c:v>4800</c:v>
                  </c:pt>
                  <c:pt idx="8">
                    <c:v>5400</c:v>
                  </c:pt>
                  <c:pt idx="9">
                    <c:v>6000</c:v>
                  </c:pt>
                  <c:pt idx="10">
                    <c:v>6600</c:v>
                  </c:pt>
                  <c:pt idx="11">
                    <c:v>7200</c:v>
                  </c:pt>
                  <c:pt idx="12">
                    <c:v>7800</c:v>
                  </c:pt>
                  <c:pt idx="13">
                    <c:v>8400</c:v>
                  </c:pt>
                  <c:pt idx="14">
                    <c:v>9000</c:v>
                  </c:pt>
                  <c:pt idx="15">
                    <c:v>9600</c:v>
                  </c:pt>
                  <c:pt idx="16">
                    <c:v>10200</c:v>
                  </c:pt>
                  <c:pt idx="17">
                    <c:v>10800</c:v>
                  </c:pt>
                  <c:pt idx="18">
                    <c:v>11400</c:v>
                  </c:pt>
                  <c:pt idx="19">
                    <c:v>12000</c:v>
                  </c:pt>
                  <c:pt idx="20">
                    <c:v>12600</c:v>
                  </c:pt>
                  <c:pt idx="21">
                    <c:v>13200</c:v>
                  </c:pt>
                  <c:pt idx="22">
                    <c:v>13800</c:v>
                  </c:pt>
                  <c:pt idx="23">
                    <c:v>14400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5">
                  <c:v>0.05</c:v>
                </c:pt>
                <c:pt idx="16">
                  <c:v>0.05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0.05</c:v>
                </c:pt>
                <c:pt idx="21">
                  <c:v>0.05</c:v>
                </c:pt>
                <c:pt idx="22">
                  <c:v>0.05</c:v>
                </c:pt>
                <c:pt idx="23">
                  <c:v>0.05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Desgaste</c:v>
                </c:pt>
              </c:strCache>
            </c:strRef>
          </c:tx>
          <c:spPr>
            <a:solidFill>
              <a:srgbClr val="C8AAD6"/>
            </a:solidFill>
            <a:ln w="25400" cap="flat">
              <a:solidFill>
                <a:srgbClr val="C8AA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AAD6"/>
              </a:solidFill>
              <a:ln w="9525" cap="flat">
                <a:solidFill>
                  <a:srgbClr val="C8AA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600</c:v>
                  </c:pt>
                  <c:pt idx="1">
                    <c:v>1200</c:v>
                  </c:pt>
                  <c:pt idx="2">
                    <c:v>1800</c:v>
                  </c:pt>
                  <c:pt idx="3">
                    <c:v>2400</c:v>
                  </c:pt>
                  <c:pt idx="4">
                    <c:v>3000</c:v>
                  </c:pt>
                  <c:pt idx="5">
                    <c:v>3600</c:v>
                  </c:pt>
                  <c:pt idx="6">
                    <c:v>4200</c:v>
                  </c:pt>
                  <c:pt idx="7">
                    <c:v>4800</c:v>
                  </c:pt>
                  <c:pt idx="8">
                    <c:v>5400</c:v>
                  </c:pt>
                  <c:pt idx="9">
                    <c:v>6000</c:v>
                  </c:pt>
                  <c:pt idx="10">
                    <c:v>6600</c:v>
                  </c:pt>
                  <c:pt idx="11">
                    <c:v>7200</c:v>
                  </c:pt>
                  <c:pt idx="12">
                    <c:v>7800</c:v>
                  </c:pt>
                  <c:pt idx="13">
                    <c:v>8400</c:v>
                  </c:pt>
                  <c:pt idx="14">
                    <c:v>9000</c:v>
                  </c:pt>
                  <c:pt idx="15">
                    <c:v>9600</c:v>
                  </c:pt>
                  <c:pt idx="16">
                    <c:v>10200</c:v>
                  </c:pt>
                  <c:pt idx="17">
                    <c:v>10800</c:v>
                  </c:pt>
                  <c:pt idx="18">
                    <c:v>11400</c:v>
                  </c:pt>
                  <c:pt idx="19">
                    <c:v>12000</c:v>
                  </c:pt>
                  <c:pt idx="20">
                    <c:v>12600</c:v>
                  </c:pt>
                  <c:pt idx="21">
                    <c:v>13200</c:v>
                  </c:pt>
                  <c:pt idx="22">
                    <c:v>13800</c:v>
                  </c:pt>
                  <c:pt idx="23">
                    <c:v>14400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</c:v>
                </c:pt>
                <c:pt idx="1">
                  <c:v>0.003</c:v>
                </c:pt>
                <c:pt idx="2">
                  <c:v>0.007</c:v>
                </c:pt>
                <c:pt idx="3">
                  <c:v>0.014</c:v>
                </c:pt>
                <c:pt idx="4">
                  <c:v>0.025</c:v>
                </c:pt>
                <c:pt idx="5">
                  <c:v>0.039</c:v>
                </c:pt>
                <c:pt idx="6">
                  <c:v>0.058</c:v>
                </c:pt>
                <c:pt idx="7">
                  <c:v>0.081</c:v>
                </c:pt>
                <c:pt idx="8">
                  <c:v>0.108</c:v>
                </c:pt>
                <c:pt idx="9">
                  <c:v>0.141</c:v>
                </c:pt>
                <c:pt idx="10">
                  <c:v>0.179</c:v>
                </c:pt>
                <c:pt idx="11">
                  <c:v>0.223</c:v>
                </c:pt>
                <c:pt idx="12">
                  <c:v>0.272</c:v>
                </c:pt>
                <c:pt idx="13">
                  <c:v>0.327</c:v>
                </c:pt>
                <c:pt idx="14">
                  <c:v>0.389</c:v>
                </c:pt>
                <c:pt idx="15">
                  <c:v>0.457</c:v>
                </c:pt>
                <c:pt idx="16">
                  <c:v>0.532</c:v>
                </c:pt>
                <c:pt idx="17">
                  <c:v>0.613</c:v>
                </c:pt>
                <c:pt idx="18">
                  <c:v>0.702</c:v>
                </c:pt>
                <c:pt idx="19">
                  <c:v>0.798</c:v>
                </c:pt>
                <c:pt idx="20">
                  <c:v>0.902</c:v>
                </c:pt>
                <c:pt idx="21">
                  <c:v>1.013</c:v>
                </c:pt>
                <c:pt idx="22">
                  <c:v>1.132</c:v>
                </c:pt>
                <c:pt idx="23">
                  <c:v>1.259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13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Normas con estado visto por organismo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Normas</c:v>
                </c:pt>
              </c:strCache>
            </c:strRef>
          </c:tx>
          <c:spPr>
            <a:solidFill>
              <a:srgbClr val="86BC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ISO</c:v>
                  </c:pt>
                  <c:pt idx="1">
                    <c:v>IEEE</c:v>
                  </c:pt>
                  <c:pt idx="2">
                    <c:v>ASTM</c:v>
                  </c:pt>
                  <c:pt idx="3">
                    <c:v>API</c:v>
                  </c:pt>
                  <c:pt idx="4">
                    <c:v>CEMA</c:v>
                  </c:pt>
                  <c:pt idx="5">
                    <c:v>ISO/IEC</c:v>
                  </c:pt>
                  <c:pt idx="6">
                    <c:v>IEC</c:v>
                  </c:pt>
                  <c:pt idx="7">
                    <c:v>NEMA</c:v>
                  </c:pt>
                  <c:pt idx="8">
                    <c:v>VDI</c:v>
                  </c:pt>
                  <c:pt idx="9">
                    <c:v>DIN</c:v>
                  </c:pt>
                  <c:pt idx="10">
                    <c:v>UNE</c:v>
                  </c:pt>
                  <c:pt idx="11">
                    <c:v>SAE</c:v>
                  </c:pt>
                  <c:pt idx="12">
                    <c:v>NCh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trabajo no inventa datos: cada afirmación lleva su fuente leída; lo que no la tiene queda como SIN DATOS PARA ARMARLO.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hay respaldo para plausibilidad de causas, no para su ocurrencia en este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 rodillos y de bombas son de segunda mano y no deben leerse como frecuencia de chumaceras de polea.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líder envía a cada agente un encargo con ROL, TAREA, CONTEXTO, RAZONAMIENTO, CONDICIONES DE CIERRE, FEEDBACK, ALMACENAMIENTO Y MEMORIA y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libros y tesis siguen pendientes: los repositorios universitarios y de libros están bloqueados en este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clasificación en física, humana y latente sigue el marco de análisis de causa raíz; el contenido de cada eslabón es síntesis con fuentes citadas.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completo, con zoom, mano de desplazamiento e impresión en A4 o A3, está en la pestaña Modos y causas del informe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causa del HTML dice por qué podría ocurrir y cómo verificarla.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puntajes S, O y D no se inventan: los asigna quien conozca 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barras indican en qué etapas cada técnica tiene respaldo de ver el defecto; no son duraciones.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desviaciones de la tabla son desviaciones estándar; el resumen del paper da intervalos de confianza. No se mezclan.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Validar por activo y por tiempo es condición para cualquier modelo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la pestaña Monitoreo y ML, Sensores y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son de simulación y no representan 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resultado: NTP, NOM, ABNT, NCh-ISO 281 y 14224, ISA y BS específicas.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brechas son las que justifican las preguntas finales a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numéricos de umbrales, intervalos y costos son SIN DATOS PARA ARMARLO hasta contar con datos propios.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líder, llamado ESTRATEGA, entrega a cada agente un encargo con la ficha de ocho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decisión tiene un efecto concreto en lo que el equipo puede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HOWK RIOS - CONFIABILIDAD  |  Chumacera de polea de faja transportadora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Falla de la chumacera de polea de faja transportadora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Dossier de confiabilidad con evidencia científica: causas raíz, pronóstico de vida útil y brechas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HOWK RIOS - CONFIABILIDAD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Informe del 27 de octubre de 2026  |  Todo respaldado por fuente o declarado SIN DATOS PARA ARMARLO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Lubricación, contaminación y desalineación son las causas más respaldadas, pero sin datos de planta no se pueden confirmar ni pronosticar la vida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caso, 14 secciones; registro de evidencia con 257 entradas</a:t>
            </a:r>
            <a:endParaRPr lang="en-US" sz="1000" dirty="0"/>
          </a:p>
        </p:txBody>
      </p:sp>
      <p:sp>
        <p:nvSpPr>
          <p:cNvPr id="4" name="tarjeta Qué sabemos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sabemos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fuentes leídas listan carga excesiva, desalineación, ajustes apretados, falla de lubricante, desgaste, corrosión y fretting como causas de daño de rodamientos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defecto progresa en 4 etapas espectrales; la kurtosis detecta lo incipiente y luego vuelve a lo normal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 un banco de ensayo (carga más alta, 25 % de censura), un método de supervivencia pronostica el tiempo a la falla con MAE de 12,6 a 14,7 min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exactitud de un diagnóstico cae de 97,58 % a 64,38 % según cómo se parte el conjunto</a:t>
            </a:r>
            <a:endParaRPr lang="en-US" sz="1400" dirty="0"/>
          </a:p>
        </p:txBody>
      </p:sp>
      <p:sp>
        <p:nvSpPr>
          <p:cNvPr id="7" name="tarjeta Qué no sabemos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no sabemos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Frecuencia de fallas por componente de poleas y fajas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Parámetros Weibull y curva de la bañera de chumaceras de polea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Costos de falla y de reemplazo, punto óptimo y LCC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Intervalo P-F y duración de cada etapa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Citas y cuartiles de las fuentes (bases bibliográficas bloqueadas)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Verificación oficial de las 43 normas identificadas</a:t>
            </a:r>
            <a:endParaRPr lang="en-US" sz="1400" dirty="0"/>
          </a:p>
        </p:txBody>
      </p:sp>
      <p:sp>
        <p:nvSpPr>
          <p:cNvPr id="10" name="tarjeta Qué recomendamos"/>
          <p:cNvSpPr/>
          <p:nvPr/>
        </p:nvSpPr>
        <p:spPr>
          <a:xfrm>
            <a:off x="8138160" y="128016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recomendamos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Confirmar las 3 hipótesis con registros e inspección del activo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Evaluar vibración (envolvente) combinada con aceite y temperatura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Recolectar datos con definición de falla y censura</a:t>
            </a:r>
            <a:endParaRPr lang="en-US" sz="1300" dirty="0"/>
          </a:p>
        </p:txBody>
      </p:sp>
      <p:sp>
        <p:nvSpPr>
          <p:cNvPr id="13" name="kpi 50"/>
          <p:cNvSpPr/>
          <p:nvPr/>
        </p:nvSpPr>
        <p:spPr>
          <a:xfrm>
            <a:off x="813816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documentos leídos de 149</a:t>
            </a:r>
            <a:endParaRPr lang="en-US" sz="1100" dirty="0"/>
          </a:p>
        </p:txBody>
      </p:sp>
      <p:sp>
        <p:nvSpPr>
          <p:cNvPr id="16" name="kpi 43"/>
          <p:cNvSpPr/>
          <p:nvPr/>
        </p:nvSpPr>
        <p:spPr>
          <a:xfrm>
            <a:off x="1001268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0412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normas con estado visto</a:t>
            </a:r>
            <a:endParaRPr lang="en-US" sz="1100" dirty="0"/>
          </a:p>
        </p:txBody>
      </p:sp>
      <p:sp>
        <p:nvSpPr>
          <p:cNvPr id="19" name="kpi 49"/>
          <p:cNvSpPr/>
          <p:nvPr/>
        </p:nvSpPr>
        <p:spPr>
          <a:xfrm>
            <a:off x="813816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réplicas de figuras y tablas</a:t>
            </a:r>
            <a:endParaRPr lang="en-US" sz="1100" dirty="0"/>
          </a:p>
        </p:txBody>
      </p:sp>
      <p:sp>
        <p:nvSpPr>
          <p:cNvPr id="22" name="kpi 153"/>
          <p:cNvSpPr/>
          <p:nvPr/>
        </p:nvSpPr>
        <p:spPr>
          <a:xfrm>
            <a:off x="1001268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0412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cifras con su condición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literatura no trae estadística de fallas de chumaceras de polea; las cifras más cercanas son de rodillos y de bombas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Wijaya et al. (2021); Goode (1988); Kenworthy et al. (2023); Shanyavskiy y Soldatenkov (2022)</a:t>
            </a:r>
            <a:endParaRPr lang="en-US" sz="1000" dirty="0"/>
          </a:p>
        </p:txBody>
      </p:sp>
      <p:sp>
        <p:nvSpPr>
          <p:cNvPr id="4" name="kpi &gt; 50 %"/>
          <p:cNvSpPr/>
          <p:nvPr/>
        </p:nvSpPr>
        <p:spPr>
          <a:xfrm>
            <a:off x="45720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50 %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las fallas de fajas se debe a rodillos defectuosos (cita de segunda mano; no son poleas)</a:t>
            </a:r>
            <a:endParaRPr lang="en-US" sz="1100" dirty="0"/>
          </a:p>
        </p:txBody>
      </p:sp>
      <p:sp>
        <p:nvSpPr>
          <p:cNvPr id="7" name="kpi 90 %"/>
          <p:cNvSpPr/>
          <p:nvPr/>
        </p:nvSpPr>
        <p:spPr>
          <a:xfrm>
            <a:off x="429768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las fallas prematuras de rodamientos de bolas de bombas, por cuatro causas (resumen de 1988)</a:t>
            </a:r>
            <a:endParaRPr lang="en-US" sz="1100" dirty="0"/>
          </a:p>
        </p:txBody>
      </p:sp>
      <p:sp>
        <p:nvSpPr>
          <p:cNvPr id="10" name="kpi L10"/>
          <p:cNvSpPr/>
          <p:nvPr/>
        </p:nvSpPr>
        <p:spPr>
          <a:xfrm>
            <a:off x="813816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vida que alcanza o supera el 90 % de la población, solo en condiciones convencionales</a:t>
            </a:r>
            <a:endParaRPr lang="en-US" sz="1100" dirty="0"/>
          </a:p>
        </p:txBody>
      </p:sp>
      <p:sp>
        <p:nvSpPr>
          <p:cNvPr id="13" name="tarjeta Causas de daño que listan las fuentes"/>
          <p:cNvSpPr/>
          <p:nvPr/>
        </p:nvSpPr>
        <p:spPr>
          <a:xfrm>
            <a:off x="457200" y="2560320"/>
            <a:ext cx="55778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Causas de daño que listan las fuentes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63240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Lubricación impropia o falla del lubricante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Contaminación y corrosión asociada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Desalineación del eje y del soporte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Carga excesiva; ajustes apretados con sobrecalentamiento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 manipulación o instalación del rodamiento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Desgaste y fretting (micro-movimiento)</a:t>
            </a:r>
            <a:endParaRPr lang="en-US" sz="1600" dirty="0"/>
          </a:p>
        </p:txBody>
      </p:sp>
      <p:sp>
        <p:nvSpPr>
          <p:cNvPr id="16" name="tarjeta Por qué importa para la chumacera de polea"/>
          <p:cNvSpPr/>
          <p:nvPr/>
        </p:nvSpPr>
        <p:spPr>
          <a:xfrm>
            <a:off x="6217920" y="2560320"/>
            <a:ext cx="548640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 qué importa para la chumacera de polea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5212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vida nominal L10 no cubre estas causas: solo fatiga bajo condiciones convencionales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resultados publicados vienen de bancos y de otros activos, desde 600 rpm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polea lenta de faja no está representada: los valores no se trasladan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lo que sigue se presenta como hipótesis posible hasta tener datos del activo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equipo de 20 agentes con ficha de ocho bloques y compuertas de evidencia produce el dossier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Protocolo del equipo; kit de cálculo con pruebas automáticas</a:t>
            </a:r>
            <a:endParaRPr lang="en-US" sz="1000" dirty="0"/>
          </a:p>
        </p:txBody>
      </p:sp>
      <p:sp>
        <p:nvSpPr>
          <p:cNvPr id="4" name="paso 1 Intake"/>
          <p:cNvSpPr/>
          <p:nvPr/>
        </p:nvSpPr>
        <p:spPr>
          <a:xfrm>
            <a:off x="45720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Intake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 persona nombra el modo de falla; el líder pregunta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paso 2 Búsqueda"/>
          <p:cNvSpPr/>
          <p:nvPr/>
        </p:nvSpPr>
        <p:spPr>
          <a:xfrm>
            <a:off x="208483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Búsqueda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frentes en paralelo: modos, monitoreo, vida, lubricación, normas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paso 3 Lectura"/>
          <p:cNvSpPr/>
          <p:nvPr/>
        </p:nvSpPr>
        <p:spPr>
          <a:xfrm>
            <a:off x="3712464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Lectura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Lectores de texto completo extraen tablas con extracto literal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paso 4 Análisis"/>
          <p:cNvSpPr/>
          <p:nvPr/>
        </p:nvSpPr>
        <p:spPr>
          <a:xfrm>
            <a:off x="5340096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3248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Análisis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ACR, árbol, Ishikawa, FMECA, vida, predictivo, costos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paso 5 Compuertas"/>
          <p:cNvSpPr/>
          <p:nvPr/>
        </p:nvSpPr>
        <p:spPr>
          <a:xfrm>
            <a:off x="6967728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Compuertas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Todo número debe estar literal en su fuente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paso 6 Verificación"/>
          <p:cNvSpPr/>
          <p:nvPr/>
        </p:nvSpPr>
        <p:spPr>
          <a:xfrm>
            <a:off x="859536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6851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Verificación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6851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Verificador independiente, 4 rondas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paso 7 Entrega"/>
          <p:cNvSpPr/>
          <p:nvPr/>
        </p:nvSpPr>
        <p:spPr>
          <a:xfrm>
            <a:off x="1022299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9614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 Entrega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mapa de agentes, guía y presentación</a:t>
            </a:r>
            <a:endParaRPr lang="en-US" sz="1100" dirty="0"/>
          </a:p>
        </p:txBody>
      </p:sp>
      <p:sp>
        <p:nvSpPr>
          <p:cNvPr id="31" name="tarjeta Reglas del equipo"/>
          <p:cNvSpPr/>
          <p:nvPr/>
        </p:nvSpPr>
        <p:spPr>
          <a:xfrm>
            <a:off x="45720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Reglas del equipo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Nada se inventa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evidencia: SIN DATOS PARA ARMARLO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Referencias en APA 7 con enlace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nombres de empresas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Cálculos con el kit, no a mano</a:t>
            </a:r>
            <a:endParaRPr lang="en-US" sz="1400" dirty="0"/>
          </a:p>
        </p:txBody>
      </p:sp>
      <p:sp>
        <p:nvSpPr>
          <p:cNvPr id="34" name="tarjeta Compuertas automáticas"/>
          <p:cNvSpPr/>
          <p:nvPr/>
        </p:nvSpPr>
        <p:spPr>
          <a:xfrm>
            <a:off x="429768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34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Compuertas automáticas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nivel de lectura se deriva del acceso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Cifras y réplicas: número literal en el extracto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Hipótesis nunca pasan de posible sin caso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Ítems sin fuente válida se eliminan y se listan</a:t>
            </a:r>
            <a:endParaRPr lang="en-US" sz="1400" dirty="0"/>
          </a:p>
        </p:txBody>
      </p:sp>
      <p:sp>
        <p:nvSpPr>
          <p:cNvPr id="37" name="tarjeta Aprendizaje continuo"/>
          <p:cNvSpPr/>
          <p:nvPr/>
        </p:nvSpPr>
        <p:spPr>
          <a:xfrm>
            <a:off x="8138160" y="3200400"/>
            <a:ext cx="35661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53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Aprendizaje continuo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70332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corrección queda en el historial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Reglas candidatas en cuarentena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persona aprueba lo permanente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4 agentes nuevos (papers, réplicas, ranking, diseño) se suman al próximo caso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leyeron 50 documentos de 149 registrados, sobre todo preprints recientes: falta lectura de libros y tesis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nivel de lectura derivado del acceso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2801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kpi 257"/>
          <p:cNvSpPr/>
          <p:nvPr/>
        </p:nvSpPr>
        <p:spPr>
          <a:xfrm>
            <a:off x="45720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entradas en el registro</a:t>
            </a:r>
            <a:endParaRPr lang="en-US" sz="1100" dirty="0"/>
          </a:p>
        </p:txBody>
      </p:sp>
      <p:sp>
        <p:nvSpPr>
          <p:cNvPr id="9" name="kpi 158"/>
          <p:cNvSpPr/>
          <p:nvPr/>
        </p:nvSpPr>
        <p:spPr>
          <a:xfrm>
            <a:off x="329184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832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extractos literales con localizador</a:t>
            </a:r>
            <a:endParaRPr lang="en-US" sz="1100" dirty="0"/>
          </a:p>
        </p:txBody>
      </p:sp>
      <p:sp>
        <p:nvSpPr>
          <p:cNvPr id="12" name="kpi 89"/>
          <p:cNvSpPr/>
          <p:nvPr/>
        </p:nvSpPr>
        <p:spPr>
          <a:xfrm>
            <a:off x="612648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pistas de buscador: no respaldan afirmaciones</a:t>
            </a:r>
            <a:endParaRPr lang="en-US" sz="1100" dirty="0"/>
          </a:p>
        </p:txBody>
      </p:sp>
      <p:sp>
        <p:nvSpPr>
          <p:cNvPr id="15" name="kpi 0"/>
          <p:cNvSpPr/>
          <p:nvPr/>
        </p:nvSpPr>
        <p:spPr>
          <a:xfrm>
            <a:off x="8961120" y="4572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5256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5166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libros y tesis leídos en texto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hipótesis se explica con una cadena de cinco porqués que va de la causa física a la humana y a la latente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Análisis del equipo con fuentes citadas (síntesis); a confirmar con registros del activo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física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humana (práctica o decisión)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latente (gestión)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Lubricación inadecuada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la película de lubricante no separó las superficies (falla de lubricante), con desgaste y daño de pistas.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tipo, cantidad o intervalo de relubricación no estaban ajustados a las condiciones reales (carga, temperatura, contaminación).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la lubricación no se gestionó como un modo de falla con indicador y verificación, y el monitoreo con indicadores tardíos no la señaló a tiempo. Causa latente a confirmar con registros.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Contaminación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la barrera de sellado no impidió el ingreso de partículas o humedad en un ambiente que puede ser agresivo (condición a verificar), o porque se introdujo durante la instalación o el engrase.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el sellado se especificó y mantuvo para condiciones convencionales, o porque su deterioro no se detectó.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la selección y el plan de mantenimiento se apoyaron en una vida nominal que cubre fatiga en condiciones convencionales y no trataron la contaminación como modo de falla gestionado.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 Desalineación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el eje y el soporte quedaron fuera de la posición de diseño (asiento del soporte, escuadra del eje, base).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falta de verificación de alineación al montar o tras intervenciones, o por pérdida de posición en servicio. Condición a verificar con mediciones.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Porque no hay requisito de verificar alineación en la puesta en servicio ni tras intervenciones, ni un indicador que la vigile. Causa latente a confirmar.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Las otras seis hipótesis (carga excesiva, ajustes, instalación, fatiga normal, detección tardía y mecanismos secundarios) quedan en estado posible. Ninguna está confirmada: no hay caso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de fallas separa el inicio del daño de su progreso sin detección, con causas físicas, humanas y latentes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Árbol del caso (nodos N0 a N18); borde continuo = respaldo directo, discontinuo = síntesis</a:t>
            </a:r>
            <a:endParaRPr lang="en-US" sz="1000" dirty="0"/>
          </a:p>
        </p:txBody>
      </p:sp>
      <p:sp>
        <p:nvSpPr>
          <p:cNvPr id="4" name="nodo N0 Falla funcional d"/>
          <p:cNvSpPr/>
          <p:nvPr/>
        </p:nvSpPr>
        <p:spPr>
          <a:xfrm>
            <a:off x="457200" y="3017520"/>
            <a:ext cx="201168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12064" y="3044952"/>
            <a:ext cx="1901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N0 Falla funcional de la chumacera: pérdida de soporte y giro  (AND)</a:t>
            </a:r>
            <a:endParaRPr lang="en-US" sz="1100" dirty="0"/>
          </a:p>
        </p:txBody>
      </p:sp>
      <p:sp>
        <p:nvSpPr>
          <p:cNvPr id="6" name="nodo N1 Se inicia un daño"/>
          <p:cNvSpPr/>
          <p:nvPr/>
        </p:nvSpPr>
        <p:spPr>
          <a:xfrm>
            <a:off x="2926080" y="146304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980944" y="1490472"/>
            <a:ext cx="22677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 Se inicia un daño en el rodamiento o su montaje  (OR)</a:t>
            </a:r>
            <a:endParaRPr lang="en-US" sz="1100" dirty="0"/>
          </a:p>
        </p:txBody>
      </p:sp>
      <p:sp>
        <p:nvSpPr>
          <p:cNvPr id="8" name="nodo N12 El daño progresa"/>
          <p:cNvSpPr/>
          <p:nvPr/>
        </p:nvSpPr>
        <p:spPr>
          <a:xfrm>
            <a:off x="2926080" y="457200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980944" y="4599432"/>
            <a:ext cx="22677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N12 El daño progresa sin detección oportuna  (OR)</a:t>
            </a:r>
            <a:endParaRPr lang="en-US" sz="1100" dirty="0"/>
          </a:p>
        </p:txBody>
      </p:sp>
      <p:sp>
        <p:nvSpPr>
          <p:cNvPr id="10" name="nodo N2 Fatiga normal (fi"/>
          <p:cNvSpPr/>
          <p:nvPr/>
        </p:nvSpPr>
        <p:spPr>
          <a:xfrm>
            <a:off x="5760720" y="1097280"/>
            <a:ext cx="31089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15584" y="112471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N2 Fatiga normal (fin de vida)</a:t>
            </a:r>
            <a:endParaRPr lang="en-US" sz="1100" dirty="0"/>
          </a:p>
        </p:txBody>
      </p:sp>
      <p:sp>
        <p:nvSpPr>
          <p:cNvPr id="12" name="nodo N3 Causas fuera de l"/>
          <p:cNvSpPr/>
          <p:nvPr/>
        </p:nvSpPr>
        <p:spPr>
          <a:xfrm>
            <a:off x="5760720" y="1965960"/>
            <a:ext cx="31089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15584" y="199339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N3 Causas fuera de lo convencional: lubricación, contaminación, desalineación, carga, ajustes, instalación</a:t>
            </a:r>
            <a:endParaRPr lang="en-US" sz="1100" dirty="0"/>
          </a:p>
        </p:txBody>
      </p:sp>
      <p:sp>
        <p:nvSpPr>
          <p:cNvPr id="14" name="nodo N16 Causas latentes "/>
          <p:cNvSpPr/>
          <p:nvPr/>
        </p:nvSpPr>
        <p:spPr>
          <a:xfrm>
            <a:off x="5760720" y="2834640"/>
            <a:ext cx="31089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815584" y="2862072"/>
            <a:ext cx="2999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N16 Causas latentes de gestión</a:t>
            </a:r>
            <a:endParaRPr lang="en-US" sz="1100" dirty="0"/>
          </a:p>
        </p:txBody>
      </p:sp>
      <p:sp>
        <p:nvSpPr>
          <p:cNvPr id="16" name="nodo N17 Prácticas sin co"/>
          <p:cNvSpPr/>
          <p:nvPr/>
        </p:nvSpPr>
        <p:spPr>
          <a:xfrm>
            <a:off x="9144000" y="283464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198864" y="2862072"/>
            <a:ext cx="2450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N17 Prácticas sin control suficiente (latente)</a:t>
            </a:r>
            <a:endParaRPr lang="en-US" sz="1100" dirty="0"/>
          </a:p>
        </p:txBody>
      </p:sp>
      <p:sp>
        <p:nvSpPr>
          <p:cNvPr id="18" name="nodo N18 Selección basada"/>
          <p:cNvSpPr/>
          <p:nvPr/>
        </p:nvSpPr>
        <p:spPr>
          <a:xfrm>
            <a:off x="9144000" y="370332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198864" y="3730752"/>
            <a:ext cx="2450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N18 Selección basada solo en L10 (latente)</a:t>
            </a:r>
            <a:endParaRPr lang="en-US" sz="1100" dirty="0"/>
          </a:p>
        </p:txBody>
      </p:sp>
      <p:sp>
        <p:nvSpPr>
          <p:cNvPr id="20" name="nodo N13 Indicador poco s"/>
          <p:cNvSpPr/>
          <p:nvPr/>
        </p:nvSpPr>
        <p:spPr>
          <a:xfrm>
            <a:off x="5760720" y="3931920"/>
            <a:ext cx="310896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15584" y="3959352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N13 Indicador poco sensible o tardío (humana)</a:t>
            </a:r>
            <a:endParaRPr lang="en-US" sz="1100" dirty="0"/>
          </a:p>
        </p:txBody>
      </p:sp>
      <p:sp>
        <p:nvSpPr>
          <p:cNvPr id="22" name="nodo N14 Umbrales sin sus"/>
          <p:cNvSpPr/>
          <p:nvPr/>
        </p:nvSpPr>
        <p:spPr>
          <a:xfrm>
            <a:off x="5760720" y="4709160"/>
            <a:ext cx="310896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15584" y="4736592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N14 Umbrales sin sustento o modelos que no generalizan (humana)</a:t>
            </a:r>
            <a:endParaRPr lang="en-US" sz="1100" dirty="0"/>
          </a:p>
        </p:txBody>
      </p:sp>
      <p:sp>
        <p:nvSpPr>
          <p:cNvPr id="24" name="nodo N15 Monitoreo sin co"/>
          <p:cNvSpPr/>
          <p:nvPr/>
        </p:nvSpPr>
        <p:spPr>
          <a:xfrm>
            <a:off x="5760720" y="5486400"/>
            <a:ext cx="310896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815584" y="5513832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N15 Monitoreo sin combinar técnicas (latente)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5204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1920240"/>
            <a:ext cx="914" cy="160020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19202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35204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520440"/>
            <a:ext cx="914" cy="150876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50292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9202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1485900"/>
            <a:ext cx="914" cy="43434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14859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19202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1920240"/>
            <a:ext cx="914" cy="43434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235458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192024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1920240"/>
            <a:ext cx="914" cy="130302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32120" y="322326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0" y="50292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32120" y="4274820"/>
            <a:ext cx="914" cy="75438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2120" y="427482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50292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5029200"/>
            <a:ext cx="914" cy="2286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2120" y="505206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50292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32120" y="5029200"/>
            <a:ext cx="914" cy="80010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32120" y="5829300"/>
            <a:ext cx="22860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69680" y="3223260"/>
            <a:ext cx="13716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06840" y="3223260"/>
            <a:ext cx="914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06840" y="3223260"/>
            <a:ext cx="13716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0" y="3223260"/>
            <a:ext cx="13716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6840" y="3223260"/>
            <a:ext cx="914" cy="86868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06840" y="4091940"/>
            <a:ext cx="137160" cy="91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4400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Borde azul: causa física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0" y="5303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Borde naranja: causa humana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14400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Borde lila: causa latente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Ishikawa reúne 26 causas en seis ramas; solo 9 tienen respaldo directo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Ishikawa del caso; ramas Mano de obra y Medio ambiente con SIN DATOS PARA ARMARLO parcial</a:t>
            </a:r>
            <a:endParaRPr lang="en-US" sz="1000" dirty="0"/>
          </a:p>
        </p:txBody>
      </p:sp>
      <p:sp>
        <p:nvSpPr>
          <p:cNvPr id="4" name="tarjeta Máquina  |  3 con respaldo, 3 síntesis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Máquina  |  3 con respaldo, 3 síntesis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Carga radial real sobre la chumacera mayor que la de diseño (tensiones de banda mayore…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Desalineación del eje de la polea respecto del soporte o entre soportes.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Ajuste apretado o inadecuado entre rodamiento, eje y alojamiento.</a:t>
            </a:r>
            <a:endParaRPr lang="en-US" sz="1100" dirty="0"/>
          </a:p>
        </p:txBody>
      </p:sp>
      <p:sp>
        <p:nvSpPr>
          <p:cNvPr id="7" name="tarjeta Método  |  1 con respaldo, 3 síntesis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Método  |  1 con respaldo, 3 síntesis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Práctica de relubricación (tipo, cantidad, intervalo) no ajustada a las condiciones re…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Montaje e instalación del rodamiento sin control suficiente (manipulación previa, méto…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Selección del rodamiento solo por vida nominal, que cubre fatiga de contacto en condic…</a:t>
            </a:r>
            <a:endParaRPr lang="en-US" sz="1100" dirty="0"/>
          </a:p>
        </p:txBody>
      </p:sp>
      <p:sp>
        <p:nvSpPr>
          <p:cNvPr id="10" name="tarjeta Material  |  2 con respaldo, 2 síntesis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Material  |  2 con respaldo, 2 síntesis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Lubricante degradado, inadecuado o incompatible con la aplicación.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Corrosión y desgaste de las superficies del rodamiento.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Fatiga normal del material (descascarado subsuperficial): fin de vida esperado y no fa…</a:t>
            </a:r>
            <a:endParaRPr lang="en-US" sz="1100" dirty="0"/>
          </a:p>
        </p:txBody>
      </p:sp>
      <p:sp>
        <p:nvSpPr>
          <p:cNvPr id="13" name="tarjeta Mano de obra  |  0 con respaldo, 3 síntesis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Mano de obra  |  0 con respaldo, 3 síntesis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Competencia y herramientas para el montaje del rodamiento, vistas como capacidad del s…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Competencia del analista de vibración para elegir la banda del filtro de envolvente e 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Nivel de mantenimiento e inspección rutinaria de la chumacera (limpieza, estado de sel…</a:t>
            </a:r>
            <a:endParaRPr lang="en-US" sz="1100" dirty="0"/>
          </a:p>
        </p:txBody>
      </p:sp>
      <p:sp>
        <p:nvSpPr>
          <p:cNvPr id="16" name="tarjeta Medición  |  3 con respaldo, 3 síntesis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Medición  |  3 con respaldo, 3 síntesis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RMS y espectro de velocidad detectan tarde el defecto incipiente.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Kurtosis usada como indicador único: no es monótona con el avance del daño.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Umbrales de kurtosis 3 y 5 sin sustento hallado; los umbrales fijos describen pocos ti…</a:t>
            </a:r>
            <a:endParaRPr lang="en-US" sz="1100" dirty="0"/>
          </a:p>
        </p:txBody>
      </p:sp>
      <p:sp>
        <p:nvSpPr>
          <p:cNvPr id="19" name="tarjeta Medio ambiente  |  0 con respaldo, 3 síntesis"/>
          <p:cNvSpPr/>
          <p:nvPr/>
        </p:nvSpPr>
        <p:spPr>
          <a:xfrm>
            <a:off x="804672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Medio ambiente  |  0 con respaldo, 3 síntesis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Polvo y partículas del entorno de la chumacera.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Humedad, agua de lluvia o de lavado y condensación.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Temperatura de operación del soporte elevada por ambiente o por material acumulado que…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FMECA lista 8 modos de falla con detección y tarea propuesta; severidad, ocurrencia y detección quedan para un experto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FMECA del caso; escalas S-O-D: SIN DATOS PARA ARMARLO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3657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falla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propuesta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RCM propuesta (síntesis)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Fatiga de contacto por rodadura (descascarado subsuperficial)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envolvente (filtrar en la resonancia, demodular, buscar BPFO, BPFI, BSF, FTF) y kurtosis…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(on-condition). Hay una técnica que la literatura asocia a detección temprana (envolvente) y etapas de…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Desgaste del rodamiento o del asiento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asocia una técnica específica al desgaste; por síntesis, tendencia de vibración y an…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condición, con restauración solo si hay edad identificable. El desgaste es el candidato clásico a restauración o…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Corrosión por contaminación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 como complemento de la vibración (E-8003); no hay técnica 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(sellado/protección) y en condición. Si la contaminación es la causa dominante, atacar la causa (sello, pr…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de lubricación (lubricante inadecuado, insuficiente o degradado)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termografía, combinados con vibración (E-8003). Etapas ultrasónicas tem…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y, si hay mecanismo identificable, tarea programada de lubricación. La relubricación es una tarea de p…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Sobrecalentamiento por ajuste inadecuado en alojamiento o eje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Termografía combinada con vibración (E-8003); la evidencia no da umbrales de temperatura.…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o corrección del procedimiento de montaje; en condición por temperatura. La causa está en la instalación;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Desalineación o carga excesiva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 con análisis espectral (E-8001, E-8008) y termografía (E-8003); no hay firma específica de…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o corrección de alineación; en condición. Si la desalineación es causa, corregirla es lo que reduce la ocu…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Fretting (micro-movimiento en asientos)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menciona técnica específica de detección para fretting. SIN DATOS PARA ARMARLO.…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de falla no aplica; inspección al desmontar. Sin técnica de detección en línea en la evidencia, solo se pr…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Daño por manipulación o instalación deficiente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da técnica; revisar el historial de órdenes tras reemplazos (requiere datos del acti…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de procedimiento. La causa es de método de trabajo; mejora el procedimiento y verifica con el historial si…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defecto progresa en cuatro etapas y cada técnica de monitoreo ve solo parte de ellas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Lillelund et al. (2024); Jayaswal et al. (2008); Burda et al. (2022); Lillelund et al. (2025)</a:t>
            </a:r>
            <a:endParaRPr lang="en-US" sz="1000" dirty="0"/>
          </a:p>
        </p:txBody>
      </p:sp>
      <p:sp>
        <p:nvSpPr>
          <p:cNvPr id="4" name="tarjeta Etapa 1 Ultrasónica"/>
          <p:cNvSpPr/>
          <p:nvPr/>
        </p:nvSpPr>
        <p:spPr>
          <a:xfrm>
            <a:off x="457200" y="128016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Etapa 1 Ultrasónica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Frecuencias ultrasónicas solo con sensores especializados; sin defectos visibles</a:t>
            </a:r>
            <a:endParaRPr lang="en-US" sz="1100" dirty="0"/>
          </a:p>
        </p:txBody>
      </p:sp>
      <p:sp>
        <p:nvSpPr>
          <p:cNvPr id="7" name="tarjeta Etapa 2 Resonancia natural"/>
          <p:cNvSpPr/>
          <p:nvPr/>
        </p:nvSpPr>
        <p:spPr>
          <a:xfrm>
            <a:off x="3291840" y="128016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Etapa 2 Resonancia natural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83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Señales alineadas con la resonancia de las piezas; primeros defectos en inspección</a:t>
            </a:r>
            <a:endParaRPr lang="en-US" sz="1100" dirty="0"/>
          </a:p>
        </p:txBody>
      </p:sp>
      <p:sp>
        <p:nvSpPr>
          <p:cNvPr id="10" name="tarjeta Etapa 3 Frecuencias de defecto"/>
          <p:cNvSpPr/>
          <p:nvPr/>
        </p:nvSpPr>
        <p:spPr>
          <a:xfrm>
            <a:off x="6126480" y="128016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Etapa 3 Frecuencias de defecto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783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BPFO, BPFI, BSF y FTF con armónicos: el defecto se extiende</a:t>
            </a:r>
            <a:endParaRPr lang="en-US" sz="1100" dirty="0"/>
          </a:p>
        </p:txBody>
      </p:sp>
      <p:sp>
        <p:nvSpPr>
          <p:cNvPr id="13" name="tarjeta Etapa 4 Final"/>
          <p:cNvSpPr/>
          <p:nvPr/>
        </p:nvSpPr>
        <p:spPr>
          <a:xfrm>
            <a:off x="8961120" y="128016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Etapa 4 Final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1783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Precede a la falla total; ruido de fondo aleatorio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Ultrasonido y alta frecuencia</a:t>
            </a:r>
            <a:endParaRPr lang="en-US" sz="1200" dirty="0"/>
          </a:p>
        </p:txBody>
      </p:sp>
      <p:sp>
        <p:nvSpPr>
          <p:cNvPr id="17" name="ventana Ultrasonido y alta frecuencia"/>
          <p:cNvSpPr/>
          <p:nvPr/>
        </p:nvSpPr>
        <p:spPr>
          <a:xfrm>
            <a:off x="3840480" y="3200400"/>
            <a:ext cx="39319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Kurtosis (vuelve a lo normal al extenderse)</a:t>
            </a:r>
            <a:endParaRPr lang="en-US" sz="1200" dirty="0"/>
          </a:p>
        </p:txBody>
      </p:sp>
      <p:sp>
        <p:nvSpPr>
          <p:cNvPr id="19" name="ventana Kurtosis (vuelve a lo normal al extenderse)"/>
          <p:cNvSpPr/>
          <p:nvPr/>
        </p:nvSpPr>
        <p:spPr>
          <a:xfrm>
            <a:off x="3840480" y="3703320"/>
            <a:ext cx="39319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Envolvente (banda impulsiva)</a:t>
            </a:r>
            <a:endParaRPr lang="en-US" sz="1200" dirty="0"/>
          </a:p>
        </p:txBody>
      </p:sp>
      <p:sp>
        <p:nvSpPr>
          <p:cNvPr id="21" name="ventana Envolvente (banda impulsiva)"/>
          <p:cNvSpPr/>
          <p:nvPr/>
        </p:nvSpPr>
        <p:spPr>
          <a:xfrm>
            <a:off x="5216652" y="4206240"/>
            <a:ext cx="4521708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Espectro de velocidad y RMS (síntesis)</a:t>
            </a:r>
            <a:endParaRPr lang="en-US" sz="1200" dirty="0"/>
          </a:p>
        </p:txBody>
      </p:sp>
      <p:sp>
        <p:nvSpPr>
          <p:cNvPr id="23" name="ventana Espectro de velocidad y RMS (síntesis)"/>
          <p:cNvSpPr/>
          <p:nvPr/>
        </p:nvSpPr>
        <p:spPr>
          <a:xfrm>
            <a:off x="8558784" y="4709160"/>
            <a:ext cx="3145536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5166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Aceite, temperatura y termografía: SIN DATOS PARA ARMARLO sobre su etapa; combinar técnicas mejora la confianza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Intervalo P-F y duración de las etapas: SIN DATOS PARA ARMARLO. Esquema cualitativo.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banco de ensayo, en la condición de mayor carga, los modelos de supervivencia pronostican el tiempo a la falla con error de 12,6 a 18,5 minutos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Lillelund et al. (2025), banco XJTU-SY, condición C1 (12,0 kN, 2100 rpm), 25 % de censura; error absoluto medio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 Qué muestra"/>
          <p:cNvSpPr/>
          <p:nvPr/>
        </p:nvSpPr>
        <p:spPr>
          <a:xfrm>
            <a:off x="7406640" y="1280160"/>
            <a:ext cx="42976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4380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muestra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178308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CoxPH 14,7 min (IC 95 %: 13,6 a 15,8)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Bosques de supervivencia aleatorios 12,6 min (11,8 a 13,4)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LASSO sin censura 18,5 min (17,4 a 19,6)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Más censura empeora el error</a:t>
            </a:r>
            <a:endParaRPr lang="en-US" sz="1400" dirty="0"/>
          </a:p>
        </p:txBody>
      </p:sp>
      <p:sp>
        <p:nvSpPr>
          <p:cNvPr id="8" name="tarjeta Por qué no se traslada"/>
          <p:cNvSpPr/>
          <p:nvPr/>
        </p:nvSpPr>
        <p:spPr>
          <a:xfrm>
            <a:off x="7406640" y="3794760"/>
            <a:ext cx="4297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qué no se traslada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42976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 rodamientos de bolas con carga de 10 a 12 kN y vidas de minutos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Censura simulada, no de flota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minutos no son precisión en planta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exactitud de un diagnóstico depende de cómo se parte el conjunto: de 97,58 % con pliegues por carga a 64,38 % por severidad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Sehri et al. (2025), CWRU; exactitud balanceada media; Leyva-Vazquez et al. (2026), resumen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 Lectura"/>
          <p:cNvSpPr/>
          <p:nvPr/>
        </p:nvSpPr>
        <p:spPr>
          <a:xfrm>
            <a:off x="7955280" y="1280160"/>
            <a:ext cx="3749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Lectura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7830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partición decide el resultado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 los mismos métodos la exactitud baja unos 33 puntos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Desviaciones de hasta 21 puntos entre pliegues</a:t>
            </a:r>
            <a:endParaRPr lang="en-US" sz="1400" dirty="0"/>
          </a:p>
        </p:txBody>
      </p:sp>
      <p:sp>
        <p:nvSpPr>
          <p:cNvPr id="8" name="tarjeta Otro ejemplo"/>
          <p:cNvSpPr/>
          <p:nvPr/>
        </p:nvSpPr>
        <p:spPr>
          <a:xfrm>
            <a:off x="7955280" y="3703320"/>
            <a:ext cx="3749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Otro ejemplo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2062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Retener una condición completa: 100 % en CWRU y 40,64 % en JNU a 1000 rpm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regresión logística llegó a 57,91 % en ese caso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fuente recomienda un sensor para chumaceras de polea; hay resultados publicados en otros activos y bancos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Lectura de papers del equipo; costos, alcance y batería: SIN DATOS PARA ARMARLO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o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publicado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 y 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Micrófono y autoencoder convolucional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0,875 frente a 0,518 del bosque de aislamiento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Cepilladora industrial; no es rodamiento ni faja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acústica no supervisada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65,92 % (dominio fuente) y 55,75 % (objetivo) en la máquina «bearing» de un desafío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Sonido de laboratorio con ruido añadido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Ampliación de datos con difusión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en CWRU de 78,665 % a 94,033 % de exactitud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en banco, no vida remanente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embebida en microcontrolador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98,9 % y 19 ms por diagnóstico en CWRU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sensor inalámbrico en el ensayo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Ultrasonido y alta frecuencia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defecto incipiente excita frecuencias desde unos 10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resultado en polea lenta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 con aceite y termografía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Combinar técnicas mejora la confianza del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etapa ni anticipación declaradas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Siguiente paso: evaluar en piloto qué técnica detecta a tiempo en una polea lenta, con datos propios y línea base por activo.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curva de la bañera ilustra cómo la forma β cambia la estrategia, pero no hay parámetros publicados de chumaceras de polea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Burke et al. (2019), definición de forma de bañera y familia Weibull; valores del gráfico: simulación ilustrativa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 Cómo leerla"/>
          <p:cNvSpPr/>
          <p:nvPr/>
        </p:nvSpPr>
        <p:spPr>
          <a:xfrm>
            <a:off x="7589520" y="1280160"/>
            <a:ext cx="411480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Cómo leerla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7830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β menor que 1: la tasa baja con la edad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β igual a 1: tasa constante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β mayor que 1: la tasa sube (desgaste)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Suma de tres riesgos = forma de bañera</a:t>
            </a:r>
            <a:endParaRPr lang="en-US" sz="1200" dirty="0"/>
          </a:p>
        </p:txBody>
      </p:sp>
      <p:sp>
        <p:nvSpPr>
          <p:cNvPr id="8" name="tarjeta Qué falta (SIN DATOS PARA ARMARLO)"/>
          <p:cNvSpPr/>
          <p:nvPr/>
        </p:nvSpPr>
        <p:spPr>
          <a:xfrm>
            <a:off x="7589520" y="3566160"/>
            <a:ext cx="41148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Qué falta (SIN DATOS PARA ARMARLO)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06908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β y η de chumaceras de polea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Tasas de falla por fase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Costos para decidir reemplazo por edad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Simulador interactivo disponible en el informe HTML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identificaron 43 normas y guías aplicables al monitoreo y al pronóstico, todas pendientes de verificación oficial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Resúmenes de buscador (SOLO-SNIPPET); ninguna página oficial pudo abrirse; no hay norma específica de aprendizaje automático para mantenimiento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943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(edición vista)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según lo visto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13381-1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Pronóstico, base del RUL; los resúmenes dicen que reemplaza la edición 2015 (sin verificar)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13373-1 y 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de vibración y guía de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17359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 monitoreo de 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20816-3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de vibración; reemplaza ISO 10816-3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281 (2007)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nominal L10; 3.ª edición en borrador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15243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Modos de falla de rodamientos y sus causas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14224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falla y mantenimiento (sector petróleo y gas)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VDI 3832 (2013)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 estructural de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23247-1, ISO/IEC 30173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 de gemelo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brechas de información impiden pasar de hipótesis a conclusiones; cada una indica qué la cerraría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caso, secciones SIN DATOS PARA ARMARLO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5603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la cerraría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la chumacera (fechas, horas, causa)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Órdenes de trabajo con definición de falla y censura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 y punto óptimo de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Tiempos hasta la falla del activo y costos de falla y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real de fallas por 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los textos de rodillos, tesis minera y conjunto de averías (hoy solo pistas)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 P-F y duración de etapas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Mediciones periódicas con vibración, aceite y temperatura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ocurrencia y detección del FMECA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 expertos con el historial del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Citas y cuartiles de las fuentes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Crossref, OpenAlex o Scopus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normas y lectura de libros y tesis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dominios de organismos y repositorios universitarios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hoja de ruta en tres horizontes: confirmar causas, medir y recién entonces decidir el reemplazo y el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Propuesta del equipo (síntesis); requiere validación y datos propios; no son resultados de las fuentes</a:t>
            </a:r>
            <a:endParaRPr lang="en-US" sz="1000" dirty="0"/>
          </a:p>
        </p:txBody>
      </p:sp>
      <p:sp>
        <p:nvSpPr>
          <p:cNvPr id="4" name="tarjeta Inmediato: confirmar"/>
          <p:cNvSpPr/>
          <p:nvPr/>
        </p:nvSpPr>
        <p:spPr>
          <a:xfrm>
            <a:off x="45720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Inmediato: confirmar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Inspeccionar el lubricante, los sellos y la huella del rodamiento retirado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Medir alineación del eje y del soporte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Registrar contaminación, humedad y temperatura del soporte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Definir falla funcional y censura en el sistema de órdenes</a:t>
            </a:r>
            <a:endParaRPr lang="en-US" sz="1500" dirty="0"/>
          </a:p>
        </p:txBody>
      </p:sp>
      <p:sp>
        <p:nvSpPr>
          <p:cNvPr id="7" name="tarjeta Corto plazo: medir"/>
          <p:cNvSpPr/>
          <p:nvPr/>
        </p:nvSpPr>
        <p:spPr>
          <a:xfrm>
            <a:off x="429768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Corto plazo: medir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Piloto de vibración con envolvente y kurtosis más aceite y temperatura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Línea base por activo antes de fijar umbrales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Bitácora de intervenciones con el mismo punto de medición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Panel de expertos para severidad, ocurrencia y detección</a:t>
            </a:r>
            <a:endParaRPr lang="en-US" sz="1500" dirty="0"/>
          </a:p>
        </p:txBody>
      </p:sp>
      <p:sp>
        <p:nvSpPr>
          <p:cNvPr id="10" name="tarjeta Mediano plazo: decidir"/>
          <p:cNvSpPr/>
          <p:nvPr/>
        </p:nvSpPr>
        <p:spPr>
          <a:xfrm>
            <a:off x="8138160" y="128016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Mediano plazo: decidir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tiempos hasta la falla: Weibull con censura y reemplazo por 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costos: LCC y punto óptimo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Probar detección de anomalías si no hay etiquetas; validar por activo y tiempo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Repetir el dossier con las fuentes hoy bloqueadas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 de agentes aprende de cada corrección y deja todo en el historial del repositorio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Mapa de agentes y guía de comandos del proyecto</a:t>
            </a:r>
            <a:endParaRPr lang="en-US" sz="1000" dirty="0"/>
          </a:p>
        </p:txBody>
      </p:sp>
      <p:sp>
        <p:nvSpPr>
          <p:cNvPr id="4" name="tarjeta A Investigación y lectura"/>
          <p:cNvSpPr/>
          <p:nvPr/>
        </p:nvSpPr>
        <p:spPr>
          <a:xfrm>
            <a:off x="457200" y="1280160"/>
            <a:ext cx="27432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Investigación y lectura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468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Investigador de literatura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Investigador de normas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Buscador de datos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Analista de papers</a:t>
            </a:r>
            <a:endParaRPr lang="en-US" sz="1400" dirty="0"/>
          </a:p>
        </p:txBody>
      </p:sp>
      <p:sp>
        <p:nvSpPr>
          <p:cNvPr id="7" name="tarjeta B Análisis"/>
          <p:cNvSpPr/>
          <p:nvPr/>
        </p:nvSpPr>
        <p:spPr>
          <a:xfrm>
            <a:off x="3383280" y="1280160"/>
            <a:ext cx="27432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 Análisis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783080"/>
            <a:ext cx="2468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Auditor de datos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Estadística de vida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Causa raíz y FMECA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Predictivo, economía, réplicas, ranking</a:t>
            </a:r>
            <a:endParaRPr lang="en-US" sz="1400" dirty="0"/>
          </a:p>
        </p:txBody>
      </p:sp>
      <p:sp>
        <p:nvSpPr>
          <p:cNvPr id="10" name="tarjeta C Entrega y calidad"/>
          <p:cNvSpPr/>
          <p:nvPr/>
        </p:nvSpPr>
        <p:spPr>
          <a:xfrm>
            <a:off x="6309360" y="1280160"/>
            <a:ext cx="27432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 Entrega y calidad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783080"/>
            <a:ext cx="2468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Integrador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Verificador independiente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Redactor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Diseñador de la interfaz</a:t>
            </a:r>
            <a:endParaRPr lang="en-US" sz="1400" dirty="0"/>
          </a:p>
        </p:txBody>
      </p:sp>
      <p:sp>
        <p:nvSpPr>
          <p:cNvPr id="13" name="tarjeta D Memoria"/>
          <p:cNvSpPr/>
          <p:nvPr/>
        </p:nvSpPr>
        <p:spPr>
          <a:xfrm>
            <a:off x="9235440" y="1280160"/>
            <a:ext cx="246888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 Memoria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17830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Historiador de casos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Curador de memoria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Aprendizaje por feedback</a:t>
            </a:r>
            <a:endParaRPr lang="en-US" sz="1400" dirty="0"/>
          </a:p>
        </p:txBody>
      </p:sp>
      <p:sp>
        <p:nvSpPr>
          <p:cNvPr id="16" name="tarjeta Comandos"/>
          <p:cNvSpPr/>
          <p:nvPr/>
        </p:nvSpPr>
        <p:spPr>
          <a:xfrm>
            <a:off x="457200" y="393192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023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Comandos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4348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/modo-de-falla  investiga un modo de falla y arma el dossier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/confiabilidad  lanza al líder y los especialistas sobre una solicitud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Mapa interactivo: docs/agentes/mapa_agentes.html</a:t>
            </a:r>
            <a:endParaRPr lang="en-US" sz="1400" dirty="0"/>
          </a:p>
        </p:txBody>
      </p:sp>
      <p:sp>
        <p:nvSpPr>
          <p:cNvPr id="19" name="tarjeta Cómo aprende"/>
          <p:cNvSpPr/>
          <p:nvPr/>
        </p:nvSpPr>
        <p:spPr>
          <a:xfrm>
            <a:off x="6126480" y="3931920"/>
            <a:ext cx="55778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Cómo aprende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43484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persona corrige o da una regla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agente de feedback la registra con fecha y alcance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Queda en cuarentena hasta que la persona la apruebe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de la persona desbloquean el siguiente nivel de análisis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Preguntas finales del equipo</a:t>
            </a:r>
            <a:endParaRPr lang="en-US" sz="1000" dirty="0"/>
          </a:p>
        </p:txBody>
      </p:sp>
      <p:sp>
        <p:nvSpPr>
          <p:cNvPr id="4" name="decisión 1"/>
          <p:cNvSpPr/>
          <p:nvPr/>
        </p:nvSpPr>
        <p:spPr>
          <a:xfrm>
            <a:off x="457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¿Habilita los dominios académicos?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Crossref, OpenAlex, arXiv directo y repositorios permitirían citas, cuartiles, libros y tesis en texto completo.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6172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úmero 2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¿Aporta el historial de la chumacera?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Fechas, horas, causa y definición de falla permiten Weibull con censura y el reemplazo por edad.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457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3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¿Qué costos usamos?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los hallados en papers o tesis; la persona puede aportar los propios si lo decide.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6172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número 4"/>
          <p:cNvSpPr/>
          <p:nvPr/>
        </p:nvSpPr>
        <p:spPr>
          <a:xfrm>
            <a:off x="6355080" y="388620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¿Qué falla analizamos después?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los 4 agentes nuevos activos: analista de papers, replicador, rankeador y diseñador.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(1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Wijaya, H., Rajeev, P., Gad, E., &amp; Vivekanamtham, R. (2021). Distributed optical fibre sensor for condition monitoring of mining conveyor using wavelet transform and artificial neural network. Structural Control and Health Monitoring, 28(11). https://doi.org/10.1002/stc.2827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Shanyavskiy, A. A., &amp; Soldatenkov, A. P. (2022). Crack path and regularities for ball-bearing fracture in the very-high-cycle fatigue regime. Fatigue &amp; Fracture of Engineering Materials &amp; Structures, 45(11), 3378-3392. https://doi.org/10.1111/ffe.13782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Kenworthy, J., Hart, E., Stirling, J., Stock, A., Keller, J., Guo, Y., Brasseur, J., &amp; Evans, R. (2023). Wind turbine main bearing rating lives as determined by IEC 61400-1 and ISO 281: A critical review and exploratory case study. Wind Energy, 27(2), 179-197. https://doi.org/10.1002/we.2883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Goode, T. (1988). Preventing Early Failure of Pump Ball Bearings. Opflow, 14(4), 1-5. https://doi.org/10.1002/j.1551-8701.1988.tb00751.x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(2024). RULSurv: A probabilistic survival-based method for early censoring-aware prediction of remaining useful life in ball bearings. arXiv.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Jayaswal, P., Wadhwani, A. K., Mulchandani, K. B., &amp; Kaneko, Y. (2008). Machine Fault Signature Analysis. International Journal of Rotating Machinery, 2008(1). https://doi.org/10.1155/2008/583982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Burda, E. A., Zusman, G. V., Kudryavtseva, I. S., Naumenko, A. P., &amp; Nicoletti, R. (2022). An Overview of Vibration Analysis Techniques for the Fault Diagnostics of Rolling Bearings in Machinery. Shock and Vibration, 2022(1). https://doi.org/10.1155/2022/6136231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(2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(2025). RULSurv: A probabilistic survival-based method for early censoring-aware prediction of remaining useful life in ball bearings. arXiv 2405.01614 (version publicada: Expert Systems with Applications, segun la cabecera del preprint).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Razzaq, W., &amp; Zhao, Y.-B. (2025). CARLE: A Hybrid Deep-Shallow Learning Framework for Robust and Explainable RUL Estimation of Rolling Element Bearings. arXiv:2510.17846. https://arxiv.org/abs/2510.17846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Sehri, M., Varejão, I., Hua, Z., Bonella, V., Santos, A., Boldt, F. A., Dumond, P., &amp; Varejão, F. M. (2025). Towards a universal vibration analysis dataset: A framework for transfer learning in predictive maintenance and structural health monitoring. arXiv:2504.11581 (preprint). https://arxiv.org/abs/2504.11581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Deschênes, A., Georges, R., Subakan, C., Ugulino, B., Henry, A., &amp; Morin, M. (2025). Planing it by ear: Convolutional neural networks for acoustic anomaly detection in industrial wood planers. arXiv 2501.04819. https://arxiv.org/abs/2501.04819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Dohi, K., Imoto, K., Harada, N., Niizumi, D., Koizumi, Y., Nishida, T., Purohit, H., Tanabe, R., Endo, T., &amp; Kawaguchi, Y. (2023). Description and discussion on DCASE 2023 Challenge Task 2: First-shot unsupervised anomalous sound detection for machine condition monitoring. arXiv 2305.07828. https://arxiv.org/abs/2305.07828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Yi, H., Hou, L., Jin, Y., Saeed, N. A., Kandil, A., &amp; Duan, H. (2023). Time Series Diffusion Method: A Denoising Diffusion Probabilistic Model for Vibration Signal Generation. arXiv 2312.07981. https://arxiv.org/abs/2312.07981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Burke, K., Jones, M. C., &amp; Noufaily, A. (2019). A flexible parametric modelling framework for survival analysis. arXiv:1901.03212. https://arxiv.org/abs/1901.03212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abilidad baby">
  <a:themeElements>
    <a:clrScheme name="Confiabilidad baby">
      <a:dk1>
        <a:srgbClr val="22313F"/>
      </a:dk1>
      <a:lt1>
        <a:srgbClr val="FFFFFF"/>
      </a:lt1>
      <a:dk2>
        <a:srgbClr val="3E5871"/>
      </a:dk2>
      <a:lt2>
        <a:srgbClr val="EAF3F8"/>
      </a:lt2>
      <a:accent1>
        <a:srgbClr val="5B9FCF"/>
      </a:accent1>
      <a:accent2>
        <a:srgbClr val="6FB98D"/>
      </a:accent2>
      <a:accent3>
        <a:srgbClr val="F0B784"/>
      </a:accent3>
      <a:accent4>
        <a:srgbClr val="C8AAD6"/>
      </a:accent4>
      <a:accent5>
        <a:srgbClr val="86BCB6"/>
      </a:accent5>
      <a:accent6>
        <a:srgbClr val="ECD27A"/>
      </a:accent6>
      <a:hlink>
        <a:srgbClr val="3B7FB5"/>
      </a:hlink>
      <a:folHlink>
        <a:srgbClr val="7A6FA0"/>
      </a:folHlink>
    </a:clrScheme>
    <a:fontScheme name="Confiabilidad bab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Falla de la chumacera de polea de faja transportadora</dc:title>
  <dc:subject>PptxGenJS Presentation</dc:subject>
  <dc:creator>HOWK RIOS - CONFIABILIDAD</dc:creator>
  <cp:lastModifiedBy>HOWK RIOS - CONFIABILIDAD</cp:lastModifiedBy>
  <cp:revision>1</cp:revision>
  <dcterms:created xsi:type="dcterms:W3CDTF">2026-10-27T08:42:37Z</dcterms:created>
  <dcterms:modified xsi:type="dcterms:W3CDTF">2026-10-27T08:42:37Z</dcterms:modified>
</cp:coreProperties>
</file>