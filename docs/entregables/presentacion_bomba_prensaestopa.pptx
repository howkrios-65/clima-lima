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af6eb44a-09c0-7f1a-aed4-8ec7c3c21413}">
          <p14:sldIdLst>
            <p14:sldId id="256"/>
            <p14:sldId id="257"/>
          </p14:sldIdLst>
        </p14:section>
        <p14:section name="Alcance y método" id="{4234e256-3155-c6b6-2e21-9cae271fa731}">
          <p14:sldIdLst>
            <p14:sldId id="258"/>
            <p14:sldId id="259"/>
            <p14:sldId id="260"/>
          </p14:sldIdLst>
        </p14:section>
        <p14:section name="Análisis de causa raíz" id="{a268099e-602f-fd77-68e6-d66485809d94}">
          <p14:sldIdLst>
            <p14:sldId id="261"/>
            <p14:sldId id="262"/>
            <p14:sldId id="263"/>
            <p14:sldId id="264"/>
            <p14:sldId id="265"/>
          </p14:sldIdLst>
        </p14:section>
        <p14:section name="Monitoreo, datos y normas" id="{6f4c6738-4a34-4277-ef16-d602057e1cf8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Documentos leídos por tipo de fuente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 leídos</c:v>
                </c:pt>
              </c:strCache>
            </c:strRef>
          </c:tx>
          <c:spPr>
            <a:solidFill>
              <a:srgbClr val="5B9F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Datos y repositorios</c:v>
                  </c:pt>
                  <c:pt idx="1">
                    <c:v>Preprints</c:v>
                  </c:pt>
                  <c:pt idx="2">
                    <c:v>otro</c:v>
                  </c:pt>
                  <c:pt idx="3">
                    <c:v>Artículos arbitrados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47</c:v>
                </c:pt>
                <c:pt idx="2">
                  <c:v>2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Documentos leídos por año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</c:v>
                </c:pt>
              </c:strCache>
            </c:strRef>
          </c:tx>
          <c:spPr>
            <a:solidFill>
              <a:srgbClr val="6FB9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1988</c:v>
                  </c:pt>
                  <c:pt idx="1">
                    <c:v>2008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  <c:pt idx="10">
                    <c:v>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  <c:pt idx="6">
                  <c:v>4</c:v>
                </c:pt>
                <c:pt idx="7">
                  <c:v>12</c:v>
                </c:pt>
                <c:pt idx="8">
                  <c:v>7</c:v>
                </c:pt>
                <c:pt idx="9">
                  <c:v>16</c:v>
                </c:pt>
                <c:pt idx="10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13F"/>
                </a:solidFill>
                <a:latin typeface="+mj-lt"/>
              </a:defRPr>
            </a:pPr>
            <a:r>
              <a:rPr sz="1300" b="0" i="0" u="none" strike="noStrike">
                <a:solidFill>
                  <a:srgbClr val="22313F"/>
                </a:solidFill>
                <a:latin typeface="+mj-lt"/>
              </a:rPr>
              <a:t>Normas con estado visto por organismo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Normas</c:v>
                </c:pt>
              </c:strCache>
            </c:strRef>
          </c:tx>
          <c:spPr>
            <a:solidFill>
              <a:srgbClr val="86BC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31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ISO</c:v>
                  </c:pt>
                  <c:pt idx="1">
                    <c:v>API</c:v>
                  </c:pt>
                  <c:pt idx="2">
                    <c:v>ANSI/HI</c:v>
                  </c:pt>
                  <c:pt idx="3">
                    <c:v>CEN/EN</c:v>
                  </c:pt>
                  <c:pt idx="4">
                    <c:v>VDI</c:v>
                  </c:pt>
                  <c:pt idx="5">
                    <c:v>IEC</c:v>
                  </c:pt>
                  <c:pt idx="6">
                    <c:v>IEEE</c:v>
                  </c:pt>
                  <c:pt idx="7">
                    <c:v>DIN</c:v>
                  </c:pt>
                  <c:pt idx="8">
                    <c:v>BSI</c:v>
                  </c:pt>
                  <c:pt idx="9">
                    <c:v>ASME</c:v>
                  </c:pt>
                  <c:pt idx="10">
                    <c:v>UNE</c:v>
                  </c:pt>
                  <c:pt idx="11">
                    <c:v>NCh</c:v>
                  </c:pt>
                  <c:pt idx="12">
                    <c:v>NEMA</c:v>
                  </c:pt>
                  <c:pt idx="13">
                    <c:v>ASTM</c:v>
                  </c:pt>
                  <c:pt idx="14">
                    <c:v>ABNT</c:v>
                  </c:pt>
                  <c:pt idx="15">
                    <c:v>NOM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31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31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8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rodamientos en bombas con prensaestopa. La literatura de prensaestopa no se pudo leer desde este entorno; el dossier es honesto sobre ello.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el análisis de rodamientos tiene respaldo; el prensaestopa solo tiene pistas de buscador.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conector de texto completo no tiene cuota hasta el 1 de noviembre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agente recibe ROL, TAREA, CONTEXTO, RAZONAMIENTO, CONDICIONES DE CIERRE, FEEDBACK, ALMACENAMIENTO Y MEMORIA y SALIDA.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pistas de buscador se listan por si una persona puede abrirlas.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90 % no debe leerse como frecuencia de modos de falla de bombas.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HTML trae los siete encadenamientos.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árbol completo, con zoom e impresión en A4 o A3, está en el informe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puntajes S, O y D los asigna quien conozca el activo.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estas fuentes requiere habilitar los dominios académicos o aportar los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indica su condición para avanzar en el informe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podría usar el banco de rodamientos como analogía si la persona lo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norma específica de aprendizaje automático para mantenimiento en lo visto.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ajuste suele hacerse como respuesta a la fuga: sesgo de registro; hace falta la fecha para el orden temporal.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kit no tiene regresión de Cox; la comparación de dos grupos se hace con Kaplan-Meier y log-rank.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brechas justifican las preguntas finales a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valores numéricos de umbrales, intervalos y costos son SIN DATOS PARA ARMARLO.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decisión tiene un efecto concreto en lo que el equipo puede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HOWK RIOS - CONFIABILIDAD  |  Bomba con prensaestopa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Paquete de rodamientos de bombas con prensaestopa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Dossier de confiabilidad con evidencia científica: lo respaldado, lo que no se pudo leer y lo que falta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HOWK RIOS - CONFIABILIDAD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Informe del 27 de octubre de 2026  |  Todo respaldado por fuente o declarado SIN DATOS PARA ARMARLO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fuente de prensaestopa se pudo leer: solo los rodamientos tienen respaldo y el vínculo con la empaquetadura queda SIN DATOS PARA ARMARLO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Dossier del caso; registro de evidencia con 483 entradas</a:t>
            </a:r>
            <a:endParaRPr lang="en-US" sz="1000" dirty="0"/>
          </a:p>
        </p:txBody>
      </p:sp>
      <p:sp>
        <p:nvSpPr>
          <p:cNvPr id="4" name="tarjeta Qué sabemos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sabemos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rodamientos de bombas se citan entre los componentes más propensos a fallar, por contaminación, mala lubricación y montaje inadecuado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resumen de 1988 atribuye el 90 % de las fallas prematuras de rodamientos de bolas de bombas a cuatro causas (no es estadística)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defecto progresa en 4 etapas espectrales; la kurtosis no es monótona</a:t>
            </a:r>
            <a:endParaRPr lang="en-US" sz="1400" dirty="0"/>
          </a:p>
        </p:txBody>
      </p:sp>
      <p:sp>
        <p:nvSpPr>
          <p:cNvPr id="7" name="tarjeta Qué no sabemos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no sabemos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 la fuga o el ajuste de la empaquetadura dañan el rodamiento, y cuánto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Efecto del agua en la vida del rodamiento (hay cifras de segunda mano sin leer)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Reparto de modos de falla, MTBF, Weibull y costos de bombas con prensaestopa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de bombas con prensaestopa con tiempos hasta la falla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Citas y cuartiles de las fuentes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Verificación oficial de las 62 normas</a:t>
            </a:r>
            <a:endParaRPr lang="en-US" sz="1400" dirty="0"/>
          </a:p>
        </p:txBody>
      </p:sp>
      <p:sp>
        <p:nvSpPr>
          <p:cNvPr id="10" name="tarjeta Qué recomendamos"/>
          <p:cNvSpPr/>
          <p:nvPr/>
        </p:nvSpPr>
        <p:spPr>
          <a:xfrm>
            <a:off x="8138160" y="128016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recomendamos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Abrir las pistas prioritarias con acceso a las fuentes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Reunir el historial de fallas con fechas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Línea base por activo antes de cualquier modelo</a:t>
            </a:r>
            <a:endParaRPr lang="en-US" sz="1300" dirty="0"/>
          </a:p>
        </p:txBody>
      </p:sp>
      <p:sp>
        <p:nvSpPr>
          <p:cNvPr id="13" name="kpi 72"/>
          <p:cNvSpPr/>
          <p:nvPr/>
        </p:nvSpPr>
        <p:spPr>
          <a:xfrm>
            <a:off x="8138160" y="4160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documentos leídos de 351</a:t>
            </a:r>
            <a:endParaRPr lang="en-US" sz="1100" dirty="0"/>
          </a:p>
        </p:txBody>
      </p:sp>
      <p:sp>
        <p:nvSpPr>
          <p:cNvPr id="16" name="kpi 62"/>
          <p:cNvSpPr/>
          <p:nvPr/>
        </p:nvSpPr>
        <p:spPr>
          <a:xfrm>
            <a:off x="10012680" y="4160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04120" y="4206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4754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normas en resúmenes de buscador</a:t>
            </a:r>
            <a:endParaRPr lang="en-US" sz="1100" dirty="0"/>
          </a:p>
        </p:txBody>
      </p:sp>
      <p:sp>
        <p:nvSpPr>
          <p:cNvPr id="19" name="kpi 0"/>
          <p:cNvSpPr/>
          <p:nvPr/>
        </p:nvSpPr>
        <p:spPr>
          <a:xfrm>
            <a:off x="8138160" y="5303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5897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fuentes leídas de prensaestopa o empaquetadura</a:t>
            </a:r>
            <a:endParaRPr lang="en-US" sz="1100" dirty="0"/>
          </a:p>
        </p:txBody>
      </p:sp>
      <p:sp>
        <p:nvSpPr>
          <p:cNvPr id="22" name="kpi 14"/>
          <p:cNvSpPr/>
          <p:nvPr/>
        </p:nvSpPr>
        <p:spPr>
          <a:xfrm>
            <a:off x="10012680" y="5303520"/>
            <a:ext cx="1691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0412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589788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hipótesis, todas posibles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siete frentes de búsqueda encontraron pistas, pero solo un texto aportado por la persona trata el prensaestopa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Resultados de los agentes de investigación; red bloqueada para revistas, repositorios y organismos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01168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 registradas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Leídas con extracto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pasó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Mecanismos y causas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pistas de buscador; ninguna cifra utilizable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Empaquetadura y contaminación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pistas, ninguna leída; cifras de agua y fuga contradictorias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y 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leyeron bancos de rodamientos; agua y P-F solo pistas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ML, RUL y datos abiertos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Bancos de rodamientos leídos; ninguno de bombas con prensaestopa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Normas, vida y costos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Normas de empaquetadura y tesis solo en resúmenes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prensaestopa a rodamiento (nuevo)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pistas; ninguna leída; peso de la causa contradictorio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y detección (nuevo)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pistas; sin umbrales ni ensayos leídos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aportado por la 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 del ajuste de la empaquetadura; fuente 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Para compensar, se heredaron las 351 entradas del caso de la bomba centrífuga (rodamientos y vibración), que no tratan prensaestopa.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equipo de 20 agentes con ficha de ocho bloques y compuertas de evidencia produce el dossier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Protocolo del equipo; kit de cálculo con pruebas automáticas</a:t>
            </a:r>
            <a:endParaRPr lang="en-US" sz="1000" dirty="0"/>
          </a:p>
        </p:txBody>
      </p:sp>
      <p:sp>
        <p:nvSpPr>
          <p:cNvPr id="4" name="paso 1 Intake"/>
          <p:cNvSpPr/>
          <p:nvPr/>
        </p:nvSpPr>
        <p:spPr>
          <a:xfrm>
            <a:off x="45720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 Intake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La persona nombra el modo de falla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paso 2 Búsqueda"/>
          <p:cNvSpPr/>
          <p:nvPr/>
        </p:nvSpPr>
        <p:spPr>
          <a:xfrm>
            <a:off x="208483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57984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Búsqueda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7 frentes en paralelo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paso 3 Lectura"/>
          <p:cNvSpPr/>
          <p:nvPr/>
        </p:nvSpPr>
        <p:spPr>
          <a:xfrm>
            <a:off x="3712464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 Lectura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Lectura de textos con extracto literal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paso 4 Análisis"/>
          <p:cNvSpPr/>
          <p:nvPr/>
        </p:nvSpPr>
        <p:spPr>
          <a:xfrm>
            <a:off x="5340096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3248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Análisis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13248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ACR, árbol, Ishikawa, FMECA, predictivo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paso 5 Compuertas"/>
          <p:cNvSpPr/>
          <p:nvPr/>
        </p:nvSpPr>
        <p:spPr>
          <a:xfrm>
            <a:off x="6967728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Compuertas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Todo número debe estar literal en su fuente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paso 6 Verificación"/>
          <p:cNvSpPr/>
          <p:nvPr/>
        </p:nvSpPr>
        <p:spPr>
          <a:xfrm>
            <a:off x="859536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68512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 Verificación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68512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Verificador independiente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›</a:t>
            </a:r>
            <a:endParaRPr lang="en-US" sz="2000" dirty="0"/>
          </a:p>
        </p:txBody>
      </p:sp>
      <p:sp>
        <p:nvSpPr>
          <p:cNvPr id="28" name="paso 7 Entrega"/>
          <p:cNvSpPr/>
          <p:nvPr/>
        </p:nvSpPr>
        <p:spPr>
          <a:xfrm>
            <a:off x="1022299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96144" y="13716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 Entrega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1755648"/>
            <a:ext cx="13167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HTML, mapa de agentes, presentación</a:t>
            </a:r>
            <a:endParaRPr lang="en-US" sz="1100" dirty="0"/>
          </a:p>
        </p:txBody>
      </p:sp>
      <p:sp>
        <p:nvSpPr>
          <p:cNvPr id="31" name="tarjeta Reglas del equipo"/>
          <p:cNvSpPr/>
          <p:nvPr/>
        </p:nvSpPr>
        <p:spPr>
          <a:xfrm>
            <a:off x="457200" y="3200400"/>
            <a:ext cx="365760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Reglas del equipo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37033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Nada se inventa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evidencia: SIN DATOS PARA ARMARLO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Referencias en APA 7 con enlace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nombres de empresas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Cálculos con el kit</a:t>
            </a:r>
            <a:endParaRPr lang="en-US" sz="1400" dirty="0"/>
          </a:p>
        </p:txBody>
      </p:sp>
      <p:sp>
        <p:nvSpPr>
          <p:cNvPr id="34" name="tarjeta Compuertas automáticas"/>
          <p:cNvSpPr/>
          <p:nvPr/>
        </p:nvSpPr>
        <p:spPr>
          <a:xfrm>
            <a:off x="4297680" y="3200400"/>
            <a:ext cx="365760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348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Compuertas automáticas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434840" y="370332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nivel de lectura se deriva del acceso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Cifras: número literal en el extracto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Hipótesis nunca pasan de posible sin caso real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Ítems sin fuente válida se eliminan y se listan</a:t>
            </a:r>
            <a:endParaRPr lang="en-US" sz="1400" dirty="0"/>
          </a:p>
        </p:txBody>
      </p:sp>
      <p:sp>
        <p:nvSpPr>
          <p:cNvPr id="37" name="tarjeta Aprendizaje continuo"/>
          <p:cNvSpPr/>
          <p:nvPr/>
        </p:nvSpPr>
        <p:spPr>
          <a:xfrm>
            <a:off x="8138160" y="3200400"/>
            <a:ext cx="35661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753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Aprendizaje continuo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370332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corrección queda en el historial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Reglas candidatas en cuarentena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persona aprueba lo permanente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leyeron 72 documentos de 351 registrados, casi todos de rodamientos y vibración, ninguno de libros ni tesis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 (incluye fuentes heredadas); nivel de lectura derivado del acceso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28016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kpi 483"/>
          <p:cNvSpPr/>
          <p:nvPr/>
        </p:nvSpPr>
        <p:spPr>
          <a:xfrm>
            <a:off x="45720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entradas en el registro</a:t>
            </a:r>
            <a:endParaRPr lang="en-US" sz="1100" dirty="0"/>
          </a:p>
        </p:txBody>
      </p:sp>
      <p:sp>
        <p:nvSpPr>
          <p:cNvPr id="9" name="kpi 192"/>
          <p:cNvSpPr/>
          <p:nvPr/>
        </p:nvSpPr>
        <p:spPr>
          <a:xfrm>
            <a:off x="329184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38328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extractos literales con localizador</a:t>
            </a:r>
            <a:endParaRPr lang="en-US" sz="1100" dirty="0"/>
          </a:p>
        </p:txBody>
      </p:sp>
      <p:sp>
        <p:nvSpPr>
          <p:cNvPr id="12" name="kpi 276"/>
          <p:cNvSpPr/>
          <p:nvPr/>
        </p:nvSpPr>
        <p:spPr>
          <a:xfrm>
            <a:off x="6126480" y="4572000"/>
            <a:ext cx="2651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0" y="4617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276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5166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pistas de buscador: no respaldan afirmaciones</a:t>
            </a:r>
            <a:endParaRPr lang="en-US" sz="1100" dirty="0"/>
          </a:p>
        </p:txBody>
      </p:sp>
      <p:sp>
        <p:nvSpPr>
          <p:cNvPr id="15" name="kpi 0"/>
          <p:cNvSpPr/>
          <p:nvPr/>
        </p:nvSpPr>
        <p:spPr>
          <a:xfrm>
            <a:off x="8961120" y="45720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05256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5166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libros y tesis leídos en texto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respaldado se limita al rodamiento en general: contaminación, lubricación, ajustes, instalación y desalineación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Shanyavskiy y Soldatenkov (2022); Goode (1988); Lillelund et al. (2025); Kenworthy et al. (2023)</a:t>
            </a:r>
            <a:endParaRPr lang="en-US" sz="1000" dirty="0"/>
          </a:p>
        </p:txBody>
      </p:sp>
      <p:sp>
        <p:nvSpPr>
          <p:cNvPr id="4" name="kpi 90 %"/>
          <p:cNvSpPr/>
          <p:nvPr/>
        </p:nvSpPr>
        <p:spPr>
          <a:xfrm>
            <a:off x="45720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 fallas prematuras de rodamientos de bolas de bombas, por cuatro causas (resumen de 1988, atribución del autor)</a:t>
            </a:r>
            <a:endParaRPr lang="en-US" sz="1100" dirty="0"/>
          </a:p>
        </p:txBody>
      </p:sp>
      <p:sp>
        <p:nvSpPr>
          <p:cNvPr id="7" name="kpi L10"/>
          <p:cNvSpPr/>
          <p:nvPr/>
        </p:nvSpPr>
        <p:spPr>
          <a:xfrm>
            <a:off x="429768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vida que alcanza o supera el 90 % de la población, solo en condiciones convencionales</a:t>
            </a:r>
            <a:endParaRPr lang="en-US" sz="1100" dirty="0"/>
          </a:p>
        </p:txBody>
      </p:sp>
      <p:sp>
        <p:nvSpPr>
          <p:cNvPr id="10" name="kpi 0"/>
          <p:cNvSpPr/>
          <p:nvPr/>
        </p:nvSpPr>
        <p:spPr>
          <a:xfrm>
            <a:off x="8138160" y="1280160"/>
            <a:ext cx="3566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74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fuentes leídas sobre cavitación, sellos o recirculación</a:t>
            </a:r>
            <a:endParaRPr lang="en-US" sz="1100" dirty="0"/>
          </a:p>
        </p:txBody>
      </p:sp>
      <p:sp>
        <p:nvSpPr>
          <p:cNvPr id="13" name="tarjeta Causas de daño que listan las fuentes"/>
          <p:cNvSpPr/>
          <p:nvPr/>
        </p:nvSpPr>
        <p:spPr>
          <a:xfrm>
            <a:off x="457200" y="2560320"/>
            <a:ext cx="55778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Causas de daño que listan las fuentes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63240"/>
            <a:ext cx="5303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Contaminación y corrosión asociada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Mala lubricación o falla del lubricante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Ajustes inadecuados con sobrecalentamiento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Mala manipulación o instalación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Carga excesiva y desalineación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Desgaste y fretting</a:t>
            </a:r>
            <a:endParaRPr lang="en-US" sz="1600" dirty="0"/>
          </a:p>
        </p:txBody>
      </p:sp>
      <p:sp>
        <p:nvSpPr>
          <p:cNvPr id="16" name="tarjeta Límites"/>
          <p:cNvSpPr/>
          <p:nvPr/>
        </p:nvSpPr>
        <p:spPr>
          <a:xfrm>
            <a:off x="6217920" y="2560320"/>
            <a:ext cx="548640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Límites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63240"/>
            <a:ext cx="52120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hay estadística de la población de bombas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cifra de 90 % es de un resumen y no trae base de datos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efecto del prensaestopa en el rodamiento está solo como pista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Todo se presenta como hipótesis posible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hipótesis se explica con cinco porqués que van de la causa física a la humana y a la latente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Análisis del equipo con fuentes citadas (síntesis); a confirmar con registros del activo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física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humana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latente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Lubricación inadecuada o falla del…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película no separó los elementos rodantes ni evitó el contacto entre asperezas, a verificar con el lubricante retirado y las pistas.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tipo, cantidad o intervalo de relubricación no estaban ajustados a la condición de operación y la temperatura reales, o por contaminación con agua (ruta A).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lubricación no se gestionó como modo de falla con indicador y verificación, y los indicadores en uso pierden señal al extenderse el defecto. Causa latente a confirmar con…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Contaminación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barrera del alojamiento no impidió el ingreso de partículas o humedad (incluida la fuga del prensaestopa, ruta A), o porque se introdujo durante la instalación o el engrase.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se especificó y mantuvo para condiciones convencionales, o porque su deterioro no se detectó.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la selección y el plan de mantenimiento se apoyaron en la vida nominal y no trataron la contaminación como modo de falla gestionado. Causa latente a confirmar con registros.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 Desalineación del eje y el soporte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el eje y el soporte quedaron fuera de la posición de diseño, a verificar con medición.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 falta de verificación al montar o tras intervenciones, o por pérdida de posición en servicio; sin fuente leída propia de bombas.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cumpliera, porque no hay requisito de verificar alineación en la puesta en servicio ni tras intervenciones. Causa latente a confirmar con registros.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Hay 14 hipótesis en total, todas posibles; los modos propios de la bomba sin fuente leída no entran como hipótesis.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árbol y el Ishikawa separan el inicio del daño de su progreso sin detección; Mano de obra y Medio ambiente quedan sin datos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Árbol de fallas e Ishikawa del caso; clase de causa: física, humana o latente</a:t>
            </a:r>
            <a:endParaRPr lang="en-US" sz="1000" dirty="0"/>
          </a:p>
        </p:txBody>
      </p:sp>
      <p:sp>
        <p:nvSpPr>
          <p:cNvPr id="4" name="tarjeta Máquina  |  4 con respaldo, 5 síntesis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Máquina  |  4 con respaldo, 5 síntesis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Ajuste inadecuado o apretado entre rodamiento, eje y alojamiento.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Desalineación del rodamiento o del eje respecto del soporte.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Carga radial o axial sobre el rodamiento mayor que la de diseño, incluida la que pudie…</a:t>
            </a:r>
            <a:endParaRPr lang="en-US" sz="1100" dirty="0"/>
          </a:p>
        </p:txBody>
      </p:sp>
      <p:sp>
        <p:nvSpPr>
          <p:cNvPr id="7" name="tarjeta Método  |  0 con respaldo, 5 síntesis"/>
          <p:cNvSpPr/>
          <p:nvPr/>
        </p:nvSpPr>
        <p:spPr>
          <a:xfrm>
            <a:off x="42519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Método  |  0 con respaldo, 5 síntesis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Práctica de relubricación (tipo, cantidad, intervalo) no ajustada a las condiciones re…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Montaje e instalación del rodamiento sin control suficiente.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Selección del rodamiento solo por vida nominal, que cubre fatiga de contacto en condic…</a:t>
            </a:r>
            <a:endParaRPr lang="en-US" sz="1100" dirty="0"/>
          </a:p>
        </p:txBody>
      </p:sp>
      <p:sp>
        <p:nvSpPr>
          <p:cNvPr id="10" name="tarjeta Material  |  2 con respaldo, 3 síntesis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Material  |  2 con respaldo, 3 síntesis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Lubricante degradado, inadecuado o incompatible, o contaminado con agua.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Corrosión y desgaste de las superficies del rodamiento.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Fatiga normal del material (descascarado): fin de vida esperado y no falla prematura.</a:t>
            </a:r>
            <a:endParaRPr lang="en-US" sz="1100" dirty="0"/>
          </a:p>
        </p:txBody>
      </p:sp>
      <p:sp>
        <p:nvSpPr>
          <p:cNvPr id="13" name="tarjeta Mano de obra  |  0 con respaldo, 2 síntesis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Mano de obra  |  0 con respaldo, 2 síntesis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Ajuste del prensaestopa hecho sin conocer el criterio de goteo o el efecto de ajustar 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Señales tempranas (fuga continua, ruido, soporte caliente) vistas en ronda pero sin tr…</a:t>
            </a:r>
            <a:endParaRPr lang="en-US" sz="1100" dirty="0"/>
          </a:p>
        </p:txBody>
      </p:sp>
      <p:sp>
        <p:nvSpPr>
          <p:cNvPr id="16" name="tarjeta Medición  |  3 con respaldo, 3 síntesis"/>
          <p:cNvSpPr/>
          <p:nvPr/>
        </p:nvSpPr>
        <p:spPr>
          <a:xfrm>
            <a:off x="425196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Medición  |  3 con respaldo, 3 síntesis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Kurtosis usada como indicador único: no es monótona con el avance del daño.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Umbrales de kurtosis 3 y 5 sin sustento hallado.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Etapas tempranas de degradación solo detectables con sensores especializados o con aná…</a:t>
            </a:r>
            <a:endParaRPr lang="en-US" sz="1100" dirty="0"/>
          </a:p>
        </p:txBody>
      </p:sp>
      <p:sp>
        <p:nvSpPr>
          <p:cNvPr id="19" name="tarjeta Medio ambiente  |  0 con respaldo, 2 síntesis"/>
          <p:cNvSpPr/>
          <p:nvPr/>
        </p:nvSpPr>
        <p:spPr>
          <a:xfrm>
            <a:off x="804672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Medio ambiente  |  0 con respaldo, 2 síntesis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Presencia de agua de lavado, fuga o humedad en el entorno del soporte. CONDICION A VER…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Temperatura ambiente, carcasa caliente o fluido caliente que eleva la temperatura del 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FMECA lista 14 modos de falla del rodamiento; el aporte del prensaestopa queda como vacío con la pista por leer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FMECA del caso; severidad, ocurrencia y detección: SIN DATOS PARA ARMARLO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374904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de falla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propuesta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RCM propuesta (síntesis)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Fatiga de contacto por rodadura del rodamiento (descascarado…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envolvente (alta sensibilidad, inmunidad al ruido, identifica tipo y ubicación del defecto) y frecuencias BPFO, BPFI, BSF, FTF…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(on-condition) (consecuencia: A confirmar; si la falla es evidente y detiene el bombeo, operacional; seguridad o ambiente…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Desgaste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asocia una técnica específica al desgaste; por síntesis, tendencia de vibración combinada con aceite o grasa y termografía…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condición; restauración solo si hay edad identificable (consecuencia: A confirmar). El desgaste es el candidato clásico a restauración o…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Corrosión del rodamiento por contaminación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aceite o grasa y termografía como complemento de la vibración (E-8003); la evidencia no da técnica específica para corrosión.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(protección del soporte) y en condición (consecuencia: A confirmar). Si la contaminación domina, atacar la causa suele ser más…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 de lubricación del rodamiento (lubricante inadecuado,…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aceite o grasa y termografía, combinados con vibración (E-8003). Las etapas ultrasónicas tempranas solo son detectables con…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y, si se identifica el mecanismo, tarea programada de lubricación (consecuencia: A confirmar). La relubricación previene un…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Sobrecalentamiento del rodamiento por ajuste inadecuado en…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Termografía combinada con vibración (E-8003); la evidencia no da umbrales de temperatura.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o corrección del procedimiento de montaje; en condición por temperatura (consecuencia: A confirmar). La causa está en la…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Daño del rodamiento por desalineación o carga excesiva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 con análisis espectral (E-8001, E-8008) y termografía (E-8003); no hay firma específica de desalineación en la evidencia leída.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 de alineación o rediseño; en condición (consecuencia: A confirmar). Corregir la causa reduce la ocurrencia; la inspección en…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Daño del rodamiento por manipulación o instalación deficiente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evidencia no da técnica; revisar el historial de órdenes tras reemplazos (requiere datos del activo).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de procedimiento (consecuencia: A confirmar). La causa es de método de trabajo; mejorar el procedimiento y verificar con el…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Empaquetadura con ajuste insuficiente (fuga excesiva)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visual del goteo y de su tendencia: consta en pista, sin respaldo (E-2104, E-2000 SOLO-SNIPPET). E-2700 no entrega técnica de…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(inspección de goteo) y tarea de ajuste con criterio escrito (consecuencia: A confirmar; fuga visible, por tanto evidente…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Empaquetadura con apriete excesivo (recalentamiento y cristalización)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Ausencia de goteo y temperatura de la caja de empaquetadura: consta en pista, sin respaldo (E-2000, E-2001 SOLO-SNIPPET). E-2700 no entrega…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del procedimiento de ajuste (criterio) y en condición (temperatura y goteo) (consecuencia: A confirmar). La causa está en el…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de agua al soporte de rodamientos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del soporte por agua (mirilla, aceite lechoso, humedad, oxidación): consta en pista, sin respaldo (E-2211, E-2616 SOLO-SNIPPET);…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(inspección de goteo hacia el soporte y del estado del lubricante) y búsqueda de fallas de la protección (consecuencia: 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de película de lubricante por contaminación con agua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lubricante por agua (por ejemplo Karl Fischer, apariencia): consta en pista, sin respaldo (E-2211, E-2607, E-2611, E-2612,…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(análisis de lubricante) y, si el agua se confirma, protección (FM14) (consecuencia: A confirmar). El análisis de lubricante…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Corrosión y fatiga del rodamiento por agua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Envolvente y tendencia de vibración (E-8001, E-8008) para el defecto ya formado; análisis de lubricante por agua y partículas: consta en…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(vibración con envolvente, análisis de lubricante) y rediseño de la protección (consecuencia: A confirmar; operacional si…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Desgaste de la camisa del eje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de la camisa (rayado, diámetro) en cada reemplazo de empaquetadura: consta en pista, sin respaldo (E-2004, E-2110).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condición (inspección de la camisa) y restauración o reemplazo solo con edad de desgaste identificable (consecuencia: A confirmar). El…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del soporte inexistente o ineficaz (deflector, laberinto,…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de deflector, estado del laberinto y limpieza del drenaje: consta en pista, sin respaldo (E-2001).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Rediseño (instalar o mejorar protección y drenaje) y búsqueda de fallas (verificación funcional de drenaje y protección) (consecuencia: 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propio del prensaestopa no se pudo respaldar: cada tema indica la pista que habría que leer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Pistas SOLO-SNIPPET del registro; ninguna respalda una afirmación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o 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habría que leer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de la empaquetadura que llega al soporte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Guías de bombas con prensaestopa y drenaje del soporte (contenido comercial, sin abrir)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 en el lubricante y vida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 de acceso abierto de 2020 sobre agua y fatiga de contacto; Cantley (1977), sin verificar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Desgaste de la camisa del eje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 de revista minera y estudio de simulación de desgaste de empaquetadura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Sobreapriete: fricción, calor y flexión del eje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Guías de mantenimiento del prensaestopa (pistas) y ensayos de torque de empaquetadura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 permitida (gotas por minuto)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pistas de fabricantes difieren entre sí; ninguna se 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Empaquetadura frente a sello mecánico: vida y costo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Tesis chilenas y mexicanas listadas, sin abrir; los costos de planta los aporta la 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Las cifras de reparto que traen las pistas (sellos 60 % a 69 %, rodamientos 22 % a 45 %) se contradicen entre sí y no se usan.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no se justifica ningún modelo entrenado: procede definir, medir una línea base y detectar anomalías en sombra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Estrategia del caso (síntesis del equipo); sin datos propios ni etiquetas; resultados de bancos de rodamientos no se trasladan</a:t>
            </a:r>
            <a:endParaRPr lang="en-US" sz="1000" dirty="0"/>
          </a:p>
        </p:txBody>
      </p:sp>
      <p:sp>
        <p:nvSpPr>
          <p:cNvPr id="4" name="tarjeta 0. Definición previa (sin modelo)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 Definición previa (sin modelo)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Fijar con el negocio el objetivo (detección temprana, diagnóstico o RUL del paquete de rodamientos), el horizonte H y el costo de falso negativo frente a falso positivo. Definir qué es falla funcional del paquete (criterio de retiro) y qué es censura (retiro preventivo, cambio por otra causa, bomba…</a:t>
            </a:r>
            <a:endParaRPr lang="en-US" sz="1200" dirty="0"/>
          </a:p>
        </p:txBody>
      </p:sp>
      <p:sp>
        <p:nvSpPr>
          <p:cNvPr id="7" name="tarjeta 1. Registro con fecha, sin sensores (primero, es lo más barato)"/>
          <p:cNvSpPr/>
          <p:nvPr/>
        </p:nvSpPr>
        <p:spPr>
          <a:xfrm>
            <a:off x="42519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 Registro con fecha, sin sensores (primero, es lo más barato)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Registrar por bomba, con fecha y responsable: (a) goteo del prensaestopa en una escala ordinal fija, medida con el mismo método y a calendario fijo (no solo cuando alguien ve la fuga), con la clase 'sin goteo' como categoría propia porque el exceso de ajuste también es dañino (E-2700); (b) cada…</a:t>
            </a:r>
            <a:endParaRPr lang="en-US" sz="1200" dirty="0"/>
          </a:p>
        </p:txBody>
      </p:sp>
      <p:sp>
        <p:nvSpPr>
          <p:cNvPr id="10" name="tarjeta 2. Línea base por bomba y posición: temperatura del soporte y vibración con envolvente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2. Línea base por bomba y posición: temperatura del soporte y vibración con envolvente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1783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 cada bomba en buen estado, y por punto de operación, medir en puntos y orientaciones fijados y marcados: temperatura del soporte (junto con temperatura ambiente y del fluido bombeado, para no confundir) y vibración con RMS y espectro de envolvente. Línea base propia con signals.linea_base…</a:t>
            </a:r>
            <a:endParaRPr lang="en-US" sz="1200" dirty="0"/>
          </a:p>
        </p:txBody>
      </p:sp>
      <p:sp>
        <p:nvSpPr>
          <p:cNvPr id="13" name="tarjeta 3. Análisis de agua en el lubricante e inspección de drenaje"/>
          <p:cNvSpPr/>
          <p:nvPr/>
        </p:nvSpPr>
        <p:spPr>
          <a:xfrm>
            <a:off x="45720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 Análisis de agua en el lubricante e inspección de drenaje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Muestrear el lubricante del soporte en servicio, antes de abrir el soporte, a intervalos fijos y tras cada episodio de fuga o lavado; ensayar con un laboratorio y método definidos por un experto y registrar el resultado con su incertidumbre. Incluir bombas sin fuga como referencia: sin ellas no hay…</a:t>
            </a:r>
            <a:endParaRPr lang="en-US" sz="1200" dirty="0"/>
          </a:p>
        </p:txBody>
      </p:sp>
      <p:sp>
        <p:nvSpPr>
          <p:cNvPr id="16" name="tarjeta 4. Detección de anomalías sin etiquetas, en sombra"/>
          <p:cNvSpPr/>
          <p:nvPr/>
        </p:nvSpPr>
        <p:spPr>
          <a:xfrm>
            <a:off x="425196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4. Detección de anomalías sin etiquetas, en sombra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Sobre las series de las etapas 2 y 3, entrenar solo con datos normales de la propia bomba (diseño sin muestras anómalas de los retos acústicos y del ensayo de campo) y operar en sombra, sin actuar, registrando cada alerta con la inspección posterior (incluido el estado de goteo y de agua). Primero…</a:t>
            </a:r>
            <a:endParaRPr lang="en-US" sz="1200" dirty="0"/>
          </a:p>
        </p:txBody>
      </p:sp>
      <p:sp>
        <p:nvSpPr>
          <p:cNvPr id="19" name="tarjeta 5. Diagnóstico por reglas (tipo de defecto y causa probable)"/>
          <p:cNvSpPr/>
          <p:nvPr/>
        </p:nvSpPr>
        <p:spPr>
          <a:xfrm>
            <a:off x="8046720" y="370332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5. Diagnóstico por reglas (tipo de defecto y causa probable)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2062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Envolvente y frecuencias características de rodamiento para tipo y ubicación (E-8001), contrastado con el hallazgo al desmontar del formato de la etapa 1; la causa probable (agua, lubricante, montaje, sobrecalentamiento) se asigna por inspección y no por el modelo. Un clasificador supervisado solo…</a:t>
            </a:r>
            <a:endParaRPr lang="en-US" sz="1200" dirty="0"/>
          </a:p>
        </p:txBody>
      </p:sp>
      <p:sp>
        <p:nvSpPr>
          <p:cNvPr id="22" name="tarjeta 6. Supervivencia exploratoria y pronóstico, solo con tiempos hasta la falla propios"/>
          <p:cNvSpPr/>
          <p:nvPr/>
        </p:nvSpPr>
        <p:spPr>
          <a:xfrm>
            <a:off x="457200" y="612648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6217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6. Supervivencia exploratoria y pronóstico, solo con tiempos hasta la falla propios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62940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Cada paquete es una unidad con fecha de inicio, fecha de falla o de censura. Empezar por descriptivo: Kaplan-Meier (kaplan_meier y km_failure_quantile con su banda) y Weibull con fit_weibull_mle, con intervalo de la forma y advertencias del kit; la censura se trata como tal, nunca como RUL = 0.…</a:t>
            </a:r>
            <a:endParaRPr lang="en-US" sz="1200" dirty="0"/>
          </a:p>
        </p:txBody>
      </p:sp>
      <p:sp>
        <p:nvSpPr>
          <p:cNvPr id="25" name="tarjeta 7. Operación, deriva y reentrenamiento"/>
          <p:cNvSpPr/>
          <p:nvPr/>
        </p:nvSpPr>
        <p:spPr>
          <a:xfrm>
            <a:off x="4251960" y="6126480"/>
            <a:ext cx="36576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89120" y="6217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7. Operación, deriva y reentrenamiento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662940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Piloto en sombra antes de actuar. Plan de deriva por cambio de punto de operación, de tipo o proveedor de empaquetadura, de lubricante, de rodamiento, de operador o de método de medición; recalibrar en planta, no importar parámetros de banco. Cada alerta dispara una inspección, nunca un cambio…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datos abiertos de bombas con prensaestopa con tiempos hasta la falla; solo audio de bombas y bancos de rodamientos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datos abiertos del caso; MIMII (Purohit et al., 2019) y reempaquetados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2194560"/>
                <a:gridCol w="2560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Aptitud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MIMII y reempaquetados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Sonidos de bombas y otras máquinas, normal y con anomalías provocadas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Diagnóstico acústico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vibración, presión ni caudal; no define la bomba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Conjuntos de rodamientos a la falla de 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XJTU-SY (15), PRONOSTIA (16) y Paderborn (17) rodamientos de bolas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 y diagnóstico de rodamientos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bomba ni prensaestopa; etiquetas de RUL construidas por los autores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Rodamientos a la falla de 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rodamientos de bolas con carga y velocidad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 de vida del rodamiento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 bomba ni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de bombas con censura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encontró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 y RUL de la bomba no son admisibles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Sin tiempos hasta la falla no se ajusta distribución de vida; lo primero es reunir el historial de fallas con fechas y censura.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identificaron 62 normas y guías; las de empaquetadura tienen ediciones en conflicto y todas están pendientes de verificación oficial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Resúmenes de buscador (SOLO-SNIPPET); ninguna página oficial pudo abrirse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1206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5943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(según resumen)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y estado visto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610 (12.ª ed., 2021) e ISO 13709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Bombas centrífugas; ya no son equivalentes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16752 e ISO 3069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Ensayo de empaquetaduras y cavidades; edición no verificada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682 e ISO 21049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Sellos; estado en conflicto en ISO 21049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20816-1 y -3; ANSI/HI 9.6.4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Vibración; ISO 10816-1 está retirada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281 e ISO 15243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L10 y modos de falla de rodamientos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13373, 17359, 13379-1, 13381-1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Monitoreo, diagnóstico y pronóstico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14224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falla (sector petróleo y gas)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ANSI/HI 9.6.3 y 9.6.5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Márgenes de operación; edición en conflicto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cadena prensaestopa, fuga, agua y rodamiento se plantea en dos rutas; ningún eslabón puente tiene fuente leída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Análisis de causa raíz y FMECA del caso; hipótesis posibles, eslabones puente rotulados síntesis</a:t>
            </a:r>
            <a:endParaRPr lang="en-US" sz="1000" dirty="0"/>
          </a:p>
        </p:txBody>
      </p:sp>
      <p:sp>
        <p:nvSpPr>
          <p:cNvPr id="4" name="tarjeta Ruta A: agua"/>
          <p:cNvSpPr/>
          <p:nvPr/>
        </p:nvSpPr>
        <p:spPr>
          <a:xfrm>
            <a:off x="45720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Ruta A: agua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Ajuste insuficiente del prensaestopa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Fuga hacia el soporte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Agua o contaminante en el lubricante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Pérdida de película, corrosión y fatiga del rodamiento</a:t>
            </a:r>
            <a:endParaRPr lang="en-US" sz="1500" dirty="0"/>
          </a:p>
        </p:txBody>
      </p:sp>
      <p:sp>
        <p:nvSpPr>
          <p:cNvPr id="7" name="tarjeta Ruta B: calor"/>
          <p:cNvSpPr/>
          <p:nvPr/>
        </p:nvSpPr>
        <p:spPr>
          <a:xfrm>
            <a:off x="429768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Ruta B: calor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Apriete excesivo por reacción a la fuga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 elimina el goteo: fricción y calor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Recalentamiento de eje y camisa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Carga térmica y deflexión sobre el rodamiento</a:t>
            </a:r>
            <a:endParaRPr lang="en-US" sz="1500" dirty="0"/>
          </a:p>
        </p:txBody>
      </p:sp>
      <p:sp>
        <p:nvSpPr>
          <p:cNvPr id="10" name="tarjeta Qué dice la evidencia"/>
          <p:cNvSpPr/>
          <p:nvPr/>
        </p:nvSpPr>
        <p:spPr>
          <a:xfrm>
            <a:off x="8138160" y="128016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Qué dice la evidencia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Solo se leyó el mecanismo de la empaquetadura (texto aportado, comercial)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Las pistas dicen que la cadena existe, sin frecuencia ni tiempo a la falla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 peso de la contaminación va de 14 % a más de la mitad según la fuente: no se usa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Humanas y latentes: preguntas a verificar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 tabla de datos correcta, el análisis de vida deja de estar vacío; con menos de 10 fallas por modo es exploratorio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Plantilla del auditor de datos; criterio del equipo, no norma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212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importa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instalación y de salida, horas de operación, fecha de corte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 con censura por la derecha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 de salida: falla, preventivo, causa ajena, sigue operando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preventivos son censura, no falla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del prensaestopa con fecha y fuga observada con fecha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ajuste debe preceder a la falla; se ajusta como respuesta a la fuga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Hallazgos al desmontar: agua, herrumbre, lubricante, camisa; con la opción no inspeccionado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Distingue la ruta A de la ruta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Costos de empaquetadura, agua de sellado, camisa, rodamiento, parada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óptimo solo con costos aportados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brechas impiden pasar de hipótesis a conclusiones; cada una indica qué la cerraría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Dossier del caso, secciones SIN DATOS PARA ARMARLO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5603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la cerraría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Literatura de prensaestopa y empaquetadura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Habilitar dominios académicos y de fabricantes o aportar PDF de tesis y artículos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fallas con fuga y ajuste del prensaestopa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Órdenes de trabajo con fechas, causa, definición de falla y censura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Weibull y punto óptimo de reemplazo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Tiempos hasta la falla y costos de falla y reemplazo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real de modos de falla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las fuentes con reparto por componente (hoy pistas contradictorias)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Agua en el soporte: señales y umbrales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el trabajo de vibración y aceite para agua en rodamientos (solo título visto)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Severidad, ocurrencia y detección del FMECA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de expertos con el historial del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Citas, cuartiles y verificación de normas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DATOS PARA ARMARLO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 bases bibliográficas y a las páginas de los organismos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en tres horizontes: abrir las fuentes y confirmar causas, medir y recién entonces modelar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Propuesta del equipo (síntesis); requiere validación y datos propios</a:t>
            </a:r>
            <a:endParaRPr lang="en-US" sz="1000" dirty="0"/>
          </a:p>
        </p:txBody>
      </p:sp>
      <p:sp>
        <p:nvSpPr>
          <p:cNvPr id="4" name="tarjeta Inmediato: abrir y confirmar"/>
          <p:cNvSpPr/>
          <p:nvPr/>
        </p:nvSpPr>
        <p:spPr>
          <a:xfrm>
            <a:off x="45720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Inmediato: abrir y confirmar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Habilitar dominios o aportar PDF de tesis y artículos de prensaestopa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Repetir los cinco frentes con acceso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Inspeccionar agua en el lubricante, camisa del eje y huella del rodamiento retirado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Medir alineación del eje y del soporte</a:t>
            </a:r>
            <a:endParaRPr lang="en-US" sz="1500" dirty="0"/>
          </a:p>
        </p:txBody>
      </p:sp>
      <p:sp>
        <p:nvSpPr>
          <p:cNvPr id="7" name="tarjeta Corto plazo: medir"/>
          <p:cNvSpPr/>
          <p:nvPr/>
        </p:nvSpPr>
        <p:spPr>
          <a:xfrm>
            <a:off x="4297680" y="128016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Corto plazo: medir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783080"/>
            <a:ext cx="3383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Línea base por punto de operación con vibración, temperatura y corriente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Bitácora de intervenciones con el mismo punto de medición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Detección de anomalías en sombra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Panel de expertos para S, O y D</a:t>
            </a:r>
            <a:endParaRPr lang="en-US" sz="1500" dirty="0"/>
          </a:p>
        </p:txBody>
      </p:sp>
      <p:sp>
        <p:nvSpPr>
          <p:cNvPr id="10" name="tarjeta Mediano plazo: decidir"/>
          <p:cNvSpPr/>
          <p:nvPr/>
        </p:nvSpPr>
        <p:spPr>
          <a:xfrm>
            <a:off x="8138160" y="1280160"/>
            <a:ext cx="3566160" cy="46634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Mediano plazo: decidir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783080"/>
            <a:ext cx="3291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tiempos hasta la falla: supervivencia con censura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costos: LCC y reemplazo por edad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Diagnóstico supervisado solo con fallas etiquetadas propias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Recalibrar en planta, no importar parámetros de banco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decisiones de la persona desbloquean el análisis de bombas con prensaestopa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Preguntas finales del equipo</a:t>
            </a:r>
            <a:endParaRPr lang="en-US" sz="1000" dirty="0"/>
          </a:p>
        </p:txBody>
      </p:sp>
      <p:sp>
        <p:nvSpPr>
          <p:cNvPr id="4" name="decisión 1"/>
          <p:cNvSpPr/>
          <p:nvPr/>
        </p:nvSpPr>
        <p:spPr>
          <a:xfrm>
            <a:off x="457200" y="128016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¿Habilita los dominios académicos?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arXiv directo, Crossref, MDPI, Frontiers, Springer, repositorios universitarios y organismos de normas permitirían leer la literatura de empaquetaduras y de agua en rodamientos.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6172200" y="128016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úmero 2"/>
          <p:cNvSpPr/>
          <p:nvPr/>
        </p:nvSpPr>
        <p:spPr>
          <a:xfrm>
            <a:off x="6355080" y="146304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¿Aporta PDF de tesis o artículos de prensaestopa?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4028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registran como datos aportados y se leen completos, sin esperar a los dominios.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457200" y="370332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número 3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¿Aporta el historial de fallas de sus bombas?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634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Fechas, horas, causa y definición de falla permiten Weibull con censura y reemplazo por edad.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6172200" y="3703320"/>
            <a:ext cx="55321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número 4"/>
          <p:cNvSpPr/>
          <p:nvPr/>
        </p:nvSpPr>
        <p:spPr>
          <a:xfrm>
            <a:off x="6355080" y="388620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86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¿Autoriza guardar el dossier en el historial?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6634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Ya está en historial/dossiers/bomba_prensaestopa_rodamientos/ de la rama de trabajo.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 en APA 7 (1 de 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enlaces completos en la pestaña Referencias del informe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(2025). RULSurv: A probabilistic survival-based method for early censoring-aware prediction of remaining useful life in ball bearings. arXiv 2405.01614 (cabecera del preprint: Expert Systems with Applications). https://arxiv.org/abs/2405.01614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Autor no identificado (s. f.). Real-Time Vibration-Based Bearing Fault Diagnosis Under Time-Varying Speed Conditions. arXiv 2311.18547 (preprint; autores y año no figuran en el texto leído). https://arxiv.org/abs/2311.18547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Goode, T. (1988). Preventing Early Failure of Pump Ball Bearings. Opflow, 14(4), 1-5. https://doi.org/10.1002/j.1551-8701.1988.tb00751.x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Shanyavskiy, A. A., &amp; Soldatenkov, A. P. (2022). Crack path and regularities for ball-bearing fracture in the very-high-cycle fatigue regime. Fatigue &amp; Fracture of Engineering Materials &amp; Structures, 45(11), 3378-3392. https://doi.org/10.1111/ffe.13782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Kenworthy, J., Hart, E., Stirling, J., Stock, A., Keller, J., Guo, Y., Brasseur, J., &amp; Evans, R. (2023). Wind turbine main bearing rating lives as determined by IEC 61400-1 and ISO 281: A critical review and exploratory case study. Wind Energy, 27(2), 179-197. https://doi.org/10.1002/we.2883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principales en APA 7 (2 de 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Fuente: Registro de evidencia del caso; enlaces completos en la pestaña Referencias del informe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(2024). RULSurv: A probabilistic survival-based method for early censoring-aware prediction of remaining useful life in ball bearings. arXiv. https://arxiv.org/abs/2405.01614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Jayaswal, P., Wadhwani, A. K., Mulchandani, K. B., &amp; Kaneko, Y. (2008). Machine Fault Signature Analysis. International Journal of Rotating Machinery, 2008(1). https://doi.org/10.1155/2008/583982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Burda, E. A., Zusman, G. V., Kudryavtseva, I. S., Naumenko, A. P., &amp; Nicoletti, R. (2022). An Overview of Vibration Analysis Techniques for the Fault Diagnostics of Rolling Bearings in Machinery. Shock and Vibration, 2022(1). https://doi.org/10.1155/2022/6136231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Purohit, H., Tanabe, R., Ichige, K., Endo, T., Nikaido, Y., Suefusa, K., &amp; Kawaguchi, Y. (2019). MIMII Dataset: Sound Dataset for Malfunctioning Industrial Machine Investigation and Inspection. arXiv:1909.09347; datos en Zenodo record 3384388 segun el resumen. https://arxiv.org/abs/1909.09347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Lillelund, C. M., Pannullo, F., Jakobsen, M. O., Morante, M., &amp; Pedersen, C. F. (2025). RULSurv: A probabilistic survival-based method for early censoring-aware prediction of remaining useful life in ball bearings. arXiv 2405.01614 (version publicada: Expert Systems with Applications, segun la cabecera del preprint). https://arxiv.org/abs/2405.01614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iabilidad baby">
  <a:themeElements>
    <a:clrScheme name="Confiabilidad baby">
      <a:dk1>
        <a:srgbClr val="22313F"/>
      </a:dk1>
      <a:lt1>
        <a:srgbClr val="FFFFFF"/>
      </a:lt1>
      <a:dk2>
        <a:srgbClr val="3E5871"/>
      </a:dk2>
      <a:lt2>
        <a:srgbClr val="EAF3F8"/>
      </a:lt2>
      <a:accent1>
        <a:srgbClr val="5B9FCF"/>
      </a:accent1>
      <a:accent2>
        <a:srgbClr val="6FB98D"/>
      </a:accent2>
      <a:accent3>
        <a:srgbClr val="F0B784"/>
      </a:accent3>
      <a:accent4>
        <a:srgbClr val="C8AAD6"/>
      </a:accent4>
      <a:accent5>
        <a:srgbClr val="86BCB6"/>
      </a:accent5>
      <a:accent6>
        <a:srgbClr val="ECD27A"/>
      </a:accent6>
      <a:hlink>
        <a:srgbClr val="3B7FB5"/>
      </a:hlink>
      <a:folHlink>
        <a:srgbClr val="7A6FA0"/>
      </a:folHlink>
    </a:clrScheme>
    <a:fontScheme name="Confiabilidad bab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Rodamientos de bombas con prensaestopa</dc:title>
  <dc:subject>PptxGenJS Presentation</dc:subject>
  <dc:creator>HOWK RIOS - CONFIABILIDAD</dc:creator>
  <cp:lastModifiedBy>HOWK RIOS - CONFIABILIDAD</cp:lastModifiedBy>
  <cp:revision>1</cp:revision>
  <dcterms:created xsi:type="dcterms:W3CDTF">2026-10-27T18:02:30Z</dcterms:created>
  <dcterms:modified xsi:type="dcterms:W3CDTF">2026-10-27T18:02:30Z</dcterms:modified>
</cp:coreProperties>
</file>