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3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icio" id="{36758655-8ee7-bc60-d097-0a35ed1d335c}">
          <p14:sldIdLst>
            <p14:sldId id="256"/>
            <p14:sldId id="257"/>
          </p14:sldIdLst>
        </p14:section>
        <p14:section name="Alcance y método" id="{c402d902-4e44-9cd5-e28f-ce8a907f7627}">
          <p14:sldIdLst>
            <p14:sldId id="258"/>
            <p14:sldId id="259"/>
            <p14:sldId id="260"/>
          </p14:sldIdLst>
        </p14:section>
        <p14:section name="Análisis de causa raíz" id="{a8f9359c-db23-42f4-a4ce-d864fc20f550}">
          <p14:sldIdLst>
            <p14:sldId id="261"/>
            <p14:sldId id="262"/>
            <p14:sldId id="263"/>
            <p14:sldId id="264"/>
            <p14:sldId id="265"/>
          </p14:sldIdLst>
        </p14:section>
        <p14:section name="Monitoreo, datos y normas" id="{b653a07e-132e-63b7-7070-091ddd805ffb}">
          <p14:sldIdLst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22313F"/>
                </a:solidFill>
                <a:latin typeface="+mj-lt"/>
              </a:defRPr>
            </a:pPr>
            <a:r>
              <a:rPr sz="1300" b="0" i="0" u="none" strike="noStrike">
                <a:solidFill>
                  <a:srgbClr val="22313F"/>
                </a:solidFill>
                <a:latin typeface="+mj-lt"/>
              </a:rPr>
              <a:t>Documentos leídos por tipo de fuente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Documentos leídos</c:v>
                </c:pt>
              </c:strCache>
            </c:strRef>
          </c:tx>
          <c:spPr>
            <a:solidFill>
              <a:srgbClr val="5B9FC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2313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Datos y repositorios</c:v>
                  </c:pt>
                  <c:pt idx="1">
                    <c:v>Preprints</c:v>
                  </c:pt>
                  <c:pt idx="2">
                    <c:v>otro</c:v>
                  </c:pt>
                  <c:pt idx="3">
                    <c:v>Artículos arbitrados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14</c:v>
                </c:pt>
                <c:pt idx="1">
                  <c:v>47</c:v>
                </c:pt>
                <c:pt idx="2">
                  <c:v>1</c:v>
                </c:pt>
                <c:pt idx="3">
                  <c:v>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22313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E587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DDE9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E5871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22313F"/>
                </a:solidFill>
                <a:latin typeface="+mj-lt"/>
              </a:defRPr>
            </a:pPr>
            <a:r>
              <a:rPr sz="1300" b="0" i="0" u="none" strike="noStrike">
                <a:solidFill>
                  <a:srgbClr val="22313F"/>
                </a:solidFill>
                <a:latin typeface="+mj-lt"/>
              </a:rPr>
              <a:t>Documentos leídos por año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Documentos</c:v>
                </c:pt>
              </c:strCache>
            </c:strRef>
          </c:tx>
          <c:spPr>
            <a:solidFill>
              <a:srgbClr val="6FB98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2313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1988</c:v>
                  </c:pt>
                  <c:pt idx="1">
                    <c:v>2008</c:v>
                  </c:pt>
                  <c:pt idx="2">
                    <c:v>2015</c:v>
                  </c:pt>
                  <c:pt idx="3">
                    <c:v>2016</c:v>
                  </c:pt>
                  <c:pt idx="4">
                    <c:v>2018</c:v>
                  </c:pt>
                  <c:pt idx="5">
                    <c:v>2019</c:v>
                  </c:pt>
                  <c:pt idx="6">
                    <c:v>2022</c:v>
                  </c:pt>
                  <c:pt idx="7">
                    <c:v>2023</c:v>
                  </c:pt>
                  <c:pt idx="8">
                    <c:v>2024</c:v>
                  </c:pt>
                  <c:pt idx="9">
                    <c:v>2025</c:v>
                  </c:pt>
                  <c:pt idx="10">
                    <c:v>2026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</c:v>
                </c:pt>
                <c:pt idx="1">
                  <c:v>1</c:v>
                </c:pt>
                <c:pt idx="2">
                  <c:v>1</c:v>
                </c:pt>
                <c:pt idx="3">
                  <c:v>1</c:v>
                </c:pt>
                <c:pt idx="4">
                  <c:v>1</c:v>
                </c:pt>
                <c:pt idx="5">
                  <c:v>5</c:v>
                </c:pt>
                <c:pt idx="6">
                  <c:v>4</c:v>
                </c:pt>
                <c:pt idx="7">
                  <c:v>12</c:v>
                </c:pt>
                <c:pt idx="8">
                  <c:v>7</c:v>
                </c:pt>
                <c:pt idx="9">
                  <c:v>16</c:v>
                </c:pt>
                <c:pt idx="10">
                  <c:v>21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22313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E587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DE9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E5871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22313F"/>
                </a:solidFill>
                <a:latin typeface="+mj-lt"/>
              </a:defRPr>
            </a:pPr>
            <a:r>
              <a:rPr sz="1300" b="0" i="0" u="none" strike="noStrike">
                <a:solidFill>
                  <a:srgbClr val="22313F"/>
                </a:solidFill>
                <a:latin typeface="+mj-lt"/>
              </a:rPr>
              <a:t>Normas con estado visto por organismo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Normas</c:v>
                </c:pt>
              </c:strCache>
            </c:strRef>
          </c:tx>
          <c:spPr>
            <a:solidFill>
              <a:srgbClr val="86BCB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2313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Sheet1!$A$2:$A$17</c:f>
              <c:multiLvlStrCache>
                <c:ptCount val="16"/>
                <c:lvl>
                  <c:pt idx="0">
                    <c:v>ISO</c:v>
                  </c:pt>
                  <c:pt idx="1">
                    <c:v>API</c:v>
                  </c:pt>
                  <c:pt idx="2">
                    <c:v>ANSI/HI</c:v>
                  </c:pt>
                  <c:pt idx="3">
                    <c:v>CEN/EN</c:v>
                  </c:pt>
                  <c:pt idx="4">
                    <c:v>VDI</c:v>
                  </c:pt>
                  <c:pt idx="5">
                    <c:v>IEC</c:v>
                  </c:pt>
                  <c:pt idx="6">
                    <c:v>IEEE</c:v>
                  </c:pt>
                  <c:pt idx="7">
                    <c:v>DIN</c:v>
                  </c:pt>
                  <c:pt idx="8">
                    <c:v>BSI</c:v>
                  </c:pt>
                  <c:pt idx="9">
                    <c:v>ASME</c:v>
                  </c:pt>
                  <c:pt idx="10">
                    <c:v>UNE</c:v>
                  </c:pt>
                  <c:pt idx="11">
                    <c:v>NCh</c:v>
                  </c:pt>
                  <c:pt idx="12">
                    <c:v>NEMA</c:v>
                  </c:pt>
                  <c:pt idx="13">
                    <c:v>ASTM</c:v>
                  </c:pt>
                  <c:pt idx="14">
                    <c:v>ABNT</c:v>
                  </c:pt>
                  <c:pt idx="15">
                    <c:v>NOM</c:v>
                  </c:pt>
                </c:lvl>
              </c:multiLvlStrCache>
            </c:multiLvlStrRef>
          </c:cat>
          <c:val>
            <c:numRef>
              <c:f>Sheet1!$B$2:$B$17</c:f>
              <c:numCache>
                <c:formatCode>General</c:formatCode>
                <c:ptCount val="16"/>
                <c:pt idx="0">
                  <c:v>31</c:v>
                </c:pt>
                <c:pt idx="1">
                  <c:v>6</c:v>
                </c:pt>
                <c:pt idx="2">
                  <c:v>5</c:v>
                </c:pt>
                <c:pt idx="3">
                  <c:v>3</c:v>
                </c:pt>
                <c:pt idx="4">
                  <c:v>2</c:v>
                </c:pt>
                <c:pt idx="5">
                  <c:v>2</c:v>
                </c:pt>
                <c:pt idx="6">
                  <c:v>2</c:v>
                </c:pt>
                <c:pt idx="7">
                  <c:v>2</c:v>
                </c:pt>
                <c:pt idx="8">
                  <c:v>2</c:v>
                </c:pt>
                <c:pt idx="9">
                  <c:v>1</c:v>
                </c:pt>
                <c:pt idx="10">
                  <c:v>1</c:v>
                </c:pt>
                <c:pt idx="11">
                  <c:v>1</c:v>
                </c:pt>
                <c:pt idx="12">
                  <c:v>1</c:v>
                </c:pt>
                <c:pt idx="13">
                  <c:v>1</c:v>
                </c:pt>
                <c:pt idx="14">
                  <c:v>1</c:v>
                </c:pt>
                <c:pt idx="15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22313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E587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DDE9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E5871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Caso de rodamientos en bombas con prensaestopa. La literatura de prensaestopa no se pudo leer desde este entorno; el dossier es honesto sobre ello.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Mensaje principal: el análisis de rodamientos tiene respaldo; el prensaestopa solo tiene pistas de buscador.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conector de texto completo no tiene cuota hasta el 1 de noviembre de 2026.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agente recibe ROL, TAREA, CONTEXTO, RAZONAMIENTO, CONDICIONES DE CIERRE, FEEDBACK, ALMACENAMIENTO Y MEMORIA y SALIDA.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Las pistas de buscador se listan por si una persona puede abrirlas.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90 % no debe leerse como frecuencia de modos de falla de bombas.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informe HTML trae los siete encadenamientos.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árbol completo, con zoom e impresión en A4 o A3, está en el informe HTML.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Los puntajes S, O y D los asigna quien conozca el activo.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Abrir estas fuentes requiere habilitar los dominios académicos o aportar los PDF.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etapa indica su condición para avanzar en el informe HTML.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 podría usar el banco de rodamientos como analogía si la persona lo decide.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hay norma específica de aprendizaje automático para mantenimiento en lo visto.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Estas brechas justifican las preguntas finales a la persona.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Los valores numéricos de umbrales, intervalos y costos son SIN DATOS PARA ARMARLO.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decisión tiene un efecto concreto en lo que el equipo puede afirmar.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HOWK RIOS - CONFIABILIDAD  |  Bomba con prensaestopa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737360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Rodamientos de bombas con prensaestopa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29184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1"/>
                </a:solidFill>
              </a:rPr>
              <a:t>Dossier de confiabilidad con evidencia científica: lo respaldado, lo que no se pudo leer y lo que falta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48463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chemeClr val="bg1"/>
                </a:solidFill>
              </a:rPr>
              <a:t>HOWK RIOS - CONFIABILIDAD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52578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Informe del 27 de octubre de 2026  |  Todo respaldado por fuente o declarado SIN DATOS PARA ARMARLO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11247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Ninguna fuente de prensaestopa se pudo leer: solo los rodamientos tienen respaldo y el vínculo con la empaquetadura queda SIN DATOS PARA ARMARLO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14476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Fuente: Dossier del caso; registro de evidencia con 431 entradas</a:t>
            </a:r>
            <a:endParaRPr lang="en-US" sz="1000" dirty="0"/>
          </a:p>
        </p:txBody>
      </p:sp>
      <p:sp>
        <p:nvSpPr>
          <p:cNvPr id="4" name="tarjeta Qué sabemos"/>
          <p:cNvSpPr/>
          <p:nvPr/>
        </p:nvSpPr>
        <p:spPr>
          <a:xfrm>
            <a:off x="457200" y="1280160"/>
            <a:ext cx="3657600" cy="4754880"/>
          </a:xfrm>
          <a:prstGeom prst="roundRect">
            <a:avLst>
              <a:gd name="adj" fmla="val 2000"/>
            </a:avLst>
          </a:prstGeom>
          <a:solidFill>
            <a:schemeClr val="bg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37160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Qué sabemos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1783080"/>
            <a:ext cx="3383280" cy="4160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Los rodamientos de bombas se citan entre los componentes más propensos a fallar, por contaminación, mala lubricación y montaje inadecuado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Un resumen de 1988 atribuye el 90 % de las fallas prematuras de rodamientos de bolas de bombas a cuatro causas (no es estadística)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El defecto progresa en 4 etapas espectrales; la kurtosis no es monótona</a:t>
            </a:r>
            <a:endParaRPr lang="en-US" sz="1400" dirty="0"/>
          </a:p>
        </p:txBody>
      </p:sp>
      <p:sp>
        <p:nvSpPr>
          <p:cNvPr id="7" name="tarjeta Qué no sabemos"/>
          <p:cNvSpPr/>
          <p:nvPr/>
        </p:nvSpPr>
        <p:spPr>
          <a:xfrm>
            <a:off x="4297680" y="1280160"/>
            <a:ext cx="3657600" cy="4754880"/>
          </a:xfrm>
          <a:prstGeom prst="roundRect">
            <a:avLst>
              <a:gd name="adj" fmla="val 2000"/>
            </a:avLst>
          </a:prstGeom>
          <a:solidFill>
            <a:schemeClr val="bg2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434840" y="137160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Qué no sabemos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434840" y="1783080"/>
            <a:ext cx="3383280" cy="4160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Si la fuga o el ajuste de la empaquetadura dañan el rodamiento, y cuánto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Efecto del agua en la vida del rodamiento (hay cifras de segunda mano sin leer)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Reparto de modos de falla, MTBF, Weibull y costos de bombas con prensaestopa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Datos de bombas con prensaestopa con tiempos hasta la falla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Citas y cuartiles de las fuentes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Verificación oficial de las 62 normas</a:t>
            </a:r>
            <a:endParaRPr lang="en-US" sz="1400" dirty="0"/>
          </a:p>
        </p:txBody>
      </p:sp>
      <p:sp>
        <p:nvSpPr>
          <p:cNvPr id="10" name="tarjeta Qué recomendamos"/>
          <p:cNvSpPr/>
          <p:nvPr/>
        </p:nvSpPr>
        <p:spPr>
          <a:xfrm>
            <a:off x="8138160" y="1280160"/>
            <a:ext cx="3566160" cy="2743200"/>
          </a:xfrm>
          <a:prstGeom prst="roundRect">
            <a:avLst>
              <a:gd name="adj" fmla="val 2667"/>
            </a:avLst>
          </a:prstGeom>
          <a:solidFill>
            <a:schemeClr val="bg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75320" y="137160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Qué recomendamos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8275320" y="1783080"/>
            <a:ext cx="329184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Abrir las pistas prioritarias con acceso a las fuentes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Reunir el historial de fallas con fechas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Línea base por activo antes de cualquier modelo</a:t>
            </a:r>
            <a:endParaRPr lang="en-US" sz="1300" dirty="0"/>
          </a:p>
        </p:txBody>
      </p:sp>
      <p:sp>
        <p:nvSpPr>
          <p:cNvPr id="13" name="kpi 71"/>
          <p:cNvSpPr/>
          <p:nvPr/>
        </p:nvSpPr>
        <p:spPr>
          <a:xfrm>
            <a:off x="8138160" y="4160520"/>
            <a:ext cx="169164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0" y="420624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71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0" y="4754880"/>
            <a:ext cx="1508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documentos leídos de 299</a:t>
            </a:r>
            <a:endParaRPr lang="en-US" sz="1100" dirty="0"/>
          </a:p>
        </p:txBody>
      </p:sp>
      <p:sp>
        <p:nvSpPr>
          <p:cNvPr id="16" name="kpi 62"/>
          <p:cNvSpPr/>
          <p:nvPr/>
        </p:nvSpPr>
        <p:spPr>
          <a:xfrm>
            <a:off x="10012680" y="4160520"/>
            <a:ext cx="169164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0104120" y="420624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62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10104120" y="4754880"/>
            <a:ext cx="1508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normas en resúmenes de buscador</a:t>
            </a:r>
            <a:endParaRPr lang="en-US" sz="1100" dirty="0"/>
          </a:p>
        </p:txBody>
      </p:sp>
      <p:sp>
        <p:nvSpPr>
          <p:cNvPr id="19" name="kpi 0"/>
          <p:cNvSpPr/>
          <p:nvPr/>
        </p:nvSpPr>
        <p:spPr>
          <a:xfrm>
            <a:off x="8138160" y="5303520"/>
            <a:ext cx="169164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29600" y="534924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3000" dirty="0"/>
          </a:p>
        </p:txBody>
      </p:sp>
      <p:sp>
        <p:nvSpPr>
          <p:cNvPr id="21" name="Text 19"/>
          <p:cNvSpPr txBox="1"/>
          <p:nvPr/>
        </p:nvSpPr>
        <p:spPr>
          <a:xfrm>
            <a:off x="8229600" y="5897880"/>
            <a:ext cx="1508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fuentes leídas de prensaestopa o empaquetadura</a:t>
            </a:r>
            <a:endParaRPr lang="en-US" sz="1100" dirty="0"/>
          </a:p>
        </p:txBody>
      </p:sp>
      <p:sp>
        <p:nvSpPr>
          <p:cNvPr id="22" name="kpi 11"/>
          <p:cNvSpPr/>
          <p:nvPr/>
        </p:nvSpPr>
        <p:spPr>
          <a:xfrm>
            <a:off x="10012680" y="5303520"/>
            <a:ext cx="169164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0104120" y="534924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3000" dirty="0"/>
          </a:p>
        </p:txBody>
      </p:sp>
      <p:sp>
        <p:nvSpPr>
          <p:cNvPr id="24" name="Text 22"/>
          <p:cNvSpPr txBox="1"/>
          <p:nvPr/>
        </p:nvSpPr>
        <p:spPr>
          <a:xfrm>
            <a:off x="10104120" y="5897880"/>
            <a:ext cx="1508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hipótesis, todas posibles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11247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Los cinco frentes de búsqueda encontraron pistas, pero casi ninguna fuente de prensaestopa se pudo leer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14476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Fuente: Resultados de los agentes de investigación; red bloqueada para revistas, repositorios y organismos</a:t>
            </a:r>
            <a:endParaRPr lang="en-US" sz="1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011680"/>
                <a:gridCol w="2011680"/>
                <a:gridCol w="44805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Frente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Entradas registradas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Leídas con extracto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Qué pasó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Mecanismos y causas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Solo pistas de buscador; ninguna cifra utilizable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Empaquetadura y contaminación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 pistas, ninguna leída; cifras de agua y fuga contradictorias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Monitoreo y diagnóstico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 leyeron bancos de rodamientos; agua y P-F solo pistas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ML, RUL y datos abiertos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Bancos de rodamientos leídos; ninguno de bombas con prensaestopa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Normas, vida y costos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Normas de empaquetadura y tesis solo en resúmenes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521208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Para compensar, se heredaron las 351 entradas del caso de la bomba centrífuga (rodamientos y vibración), que no tratan prensaestopa.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11247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equipo de 20 agentes con ficha de ocho bloques y compuertas de evidencia produce el dossier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14476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Fuente: Protocolo del equipo; kit de cálculo con pruebas automáticas</a:t>
            </a:r>
            <a:endParaRPr lang="en-US" sz="1000" dirty="0"/>
          </a:p>
        </p:txBody>
      </p:sp>
      <p:sp>
        <p:nvSpPr>
          <p:cNvPr id="4" name="paso 1 Intake"/>
          <p:cNvSpPr/>
          <p:nvPr/>
        </p:nvSpPr>
        <p:spPr>
          <a:xfrm>
            <a:off x="457200" y="1325880"/>
            <a:ext cx="1463040" cy="1600200"/>
          </a:xfrm>
          <a:prstGeom prst="roundRect">
            <a:avLst>
              <a:gd name="adj" fmla="val 5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30352" y="1371600"/>
            <a:ext cx="1316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 Intake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30352" y="1755648"/>
            <a:ext cx="131673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La persona nombra el modo de falla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920240" y="1828800"/>
            <a:ext cx="164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2"/>
                </a:solidFill>
              </a:rPr>
              <a:t>›</a:t>
            </a:r>
            <a:endParaRPr lang="en-US" sz="2000" dirty="0"/>
          </a:p>
        </p:txBody>
      </p:sp>
      <p:sp>
        <p:nvSpPr>
          <p:cNvPr id="8" name="paso 2 Búsqueda"/>
          <p:cNvSpPr/>
          <p:nvPr/>
        </p:nvSpPr>
        <p:spPr>
          <a:xfrm>
            <a:off x="2084832" y="1325880"/>
            <a:ext cx="1463040" cy="160020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157984" y="1371600"/>
            <a:ext cx="1316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2 Búsqueda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2157984" y="1755648"/>
            <a:ext cx="131673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5 frentes en paralelo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3547872" y="1828800"/>
            <a:ext cx="164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2"/>
                </a:solidFill>
              </a:rPr>
              <a:t>›</a:t>
            </a:r>
            <a:endParaRPr lang="en-US" sz="2000" dirty="0"/>
          </a:p>
        </p:txBody>
      </p:sp>
      <p:sp>
        <p:nvSpPr>
          <p:cNvPr id="12" name="paso 3 Lectura"/>
          <p:cNvSpPr/>
          <p:nvPr/>
        </p:nvSpPr>
        <p:spPr>
          <a:xfrm>
            <a:off x="3712464" y="1325880"/>
            <a:ext cx="1463040" cy="1600200"/>
          </a:xfrm>
          <a:prstGeom prst="roundRect">
            <a:avLst>
              <a:gd name="adj" fmla="val 5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785616" y="1371600"/>
            <a:ext cx="1316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 Lectura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3785616" y="1755648"/>
            <a:ext cx="131673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Lectura de textos con extracto literal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5175504" y="1828800"/>
            <a:ext cx="164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2"/>
                </a:solidFill>
              </a:rPr>
              <a:t>›</a:t>
            </a:r>
            <a:endParaRPr lang="en-US" sz="2000" dirty="0"/>
          </a:p>
        </p:txBody>
      </p:sp>
      <p:sp>
        <p:nvSpPr>
          <p:cNvPr id="16" name="paso 4 Análisis"/>
          <p:cNvSpPr/>
          <p:nvPr/>
        </p:nvSpPr>
        <p:spPr>
          <a:xfrm>
            <a:off x="5340096" y="1325880"/>
            <a:ext cx="1463040" cy="160020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13248" y="1371600"/>
            <a:ext cx="1316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4 Análisis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5413248" y="1755648"/>
            <a:ext cx="131673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ACR, árbol, Ishikawa, FMECA, predictivo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803136" y="1828800"/>
            <a:ext cx="164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2"/>
                </a:solidFill>
              </a:rPr>
              <a:t>›</a:t>
            </a:r>
            <a:endParaRPr lang="en-US" sz="2000" dirty="0"/>
          </a:p>
        </p:txBody>
      </p:sp>
      <p:sp>
        <p:nvSpPr>
          <p:cNvPr id="20" name="paso 5 Compuertas"/>
          <p:cNvSpPr/>
          <p:nvPr/>
        </p:nvSpPr>
        <p:spPr>
          <a:xfrm>
            <a:off x="6967728" y="1325880"/>
            <a:ext cx="1463040" cy="1600200"/>
          </a:xfrm>
          <a:prstGeom prst="roundRect">
            <a:avLst>
              <a:gd name="adj" fmla="val 5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040880" y="1371600"/>
            <a:ext cx="1316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 Compuertas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040880" y="1755648"/>
            <a:ext cx="131673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Todo número debe estar literal en su fuente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430768" y="1828800"/>
            <a:ext cx="164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2"/>
                </a:solidFill>
              </a:rPr>
              <a:t>›</a:t>
            </a:r>
            <a:endParaRPr lang="en-US" sz="2000" dirty="0"/>
          </a:p>
        </p:txBody>
      </p:sp>
      <p:sp>
        <p:nvSpPr>
          <p:cNvPr id="24" name="paso 6 Verificación"/>
          <p:cNvSpPr/>
          <p:nvPr/>
        </p:nvSpPr>
        <p:spPr>
          <a:xfrm>
            <a:off x="8595360" y="1325880"/>
            <a:ext cx="1463040" cy="160020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668512" y="1371600"/>
            <a:ext cx="1316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6 Verificación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8668512" y="1755648"/>
            <a:ext cx="131673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Verificador independiente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10058400" y="1828800"/>
            <a:ext cx="164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2"/>
                </a:solidFill>
              </a:rPr>
              <a:t>›</a:t>
            </a:r>
            <a:endParaRPr lang="en-US" sz="2000" dirty="0"/>
          </a:p>
        </p:txBody>
      </p:sp>
      <p:sp>
        <p:nvSpPr>
          <p:cNvPr id="28" name="paso 7 Entrega"/>
          <p:cNvSpPr/>
          <p:nvPr/>
        </p:nvSpPr>
        <p:spPr>
          <a:xfrm>
            <a:off x="10222992" y="1325880"/>
            <a:ext cx="1463040" cy="1600200"/>
          </a:xfrm>
          <a:prstGeom prst="roundRect">
            <a:avLst>
              <a:gd name="adj" fmla="val 5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10296144" y="1371600"/>
            <a:ext cx="1316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7 Entrega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10296144" y="1755648"/>
            <a:ext cx="131673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HTML, mapa de agentes, presentación</a:t>
            </a:r>
            <a:endParaRPr lang="en-US" sz="1100" dirty="0"/>
          </a:p>
        </p:txBody>
      </p:sp>
      <p:sp>
        <p:nvSpPr>
          <p:cNvPr id="31" name="tarjeta Reglas del equipo"/>
          <p:cNvSpPr/>
          <p:nvPr/>
        </p:nvSpPr>
        <p:spPr>
          <a:xfrm>
            <a:off x="457200" y="3200400"/>
            <a:ext cx="3657600" cy="2834640"/>
          </a:xfrm>
          <a:prstGeom prst="roundRect">
            <a:avLst>
              <a:gd name="adj" fmla="val 2581"/>
            </a:avLst>
          </a:prstGeom>
          <a:solidFill>
            <a:schemeClr val="bg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594360" y="329184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Reglas del equipo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594360" y="3703320"/>
            <a:ext cx="338328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Nada se inventa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Sin evidencia: SIN DATOS PARA ARMARLO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Referencias en APA 7 con enlace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Sin nombres de empresas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Cálculos con el kit</a:t>
            </a:r>
            <a:endParaRPr lang="en-US" sz="1400" dirty="0"/>
          </a:p>
        </p:txBody>
      </p:sp>
      <p:sp>
        <p:nvSpPr>
          <p:cNvPr id="34" name="tarjeta Compuertas automáticas"/>
          <p:cNvSpPr/>
          <p:nvPr/>
        </p:nvSpPr>
        <p:spPr>
          <a:xfrm>
            <a:off x="4297680" y="3200400"/>
            <a:ext cx="3657600" cy="2834640"/>
          </a:xfrm>
          <a:prstGeom prst="roundRect">
            <a:avLst>
              <a:gd name="adj" fmla="val 2581"/>
            </a:avLst>
          </a:prstGeom>
          <a:solidFill>
            <a:schemeClr val="bg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4434840" y="329184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Compuertas automáticas</a:t>
            </a:r>
            <a:endParaRPr lang="en-US" sz="1500" dirty="0"/>
          </a:p>
        </p:txBody>
      </p:sp>
      <p:sp>
        <p:nvSpPr>
          <p:cNvPr id="36" name="Text 34"/>
          <p:cNvSpPr txBox="1"/>
          <p:nvPr/>
        </p:nvSpPr>
        <p:spPr>
          <a:xfrm>
            <a:off x="4434840" y="3703320"/>
            <a:ext cx="338328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El nivel de lectura se deriva del acceso real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Cifras: número literal en el extracto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Hipótesis nunca pasan de posible sin caso real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Ítems sin fuente válida se eliminan y se listan</a:t>
            </a:r>
            <a:endParaRPr lang="en-US" sz="1400" dirty="0"/>
          </a:p>
        </p:txBody>
      </p:sp>
      <p:sp>
        <p:nvSpPr>
          <p:cNvPr id="37" name="tarjeta Aprendizaje continuo"/>
          <p:cNvSpPr/>
          <p:nvPr/>
        </p:nvSpPr>
        <p:spPr>
          <a:xfrm>
            <a:off x="8138160" y="3200400"/>
            <a:ext cx="3566160" cy="2834640"/>
          </a:xfrm>
          <a:prstGeom prst="roundRect">
            <a:avLst>
              <a:gd name="adj" fmla="val 2581"/>
            </a:avLst>
          </a:prstGeom>
          <a:solidFill>
            <a:schemeClr val="bg2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8275320" y="32918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Aprendizaje continuo</a:t>
            </a:r>
            <a:endParaRPr lang="en-US" sz="1500" dirty="0"/>
          </a:p>
        </p:txBody>
      </p:sp>
      <p:sp>
        <p:nvSpPr>
          <p:cNvPr id="39" name="Text 37"/>
          <p:cNvSpPr txBox="1"/>
          <p:nvPr/>
        </p:nvSpPr>
        <p:spPr>
          <a:xfrm>
            <a:off x="8275320" y="3703320"/>
            <a:ext cx="329184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Cada corrección queda en el historial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Reglas candidatas en cuarentena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La persona aprueba lo permanente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11247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 leyeron 71 documentos de 299 registrados, casi todos de rodamientos y vibración, ninguno de libros ni tesis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14476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Fuente: Registro de evidencia del caso (incluye fuentes heredadas); nivel de lectura derivado del acceso</a:t>
            </a:r>
            <a:endParaRPr lang="en-US" sz="1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280160"/>
          <a:ext cx="557784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5" name="Chart 1" descr=""/>
          <p:cNvGraphicFramePr/>
          <p:nvPr/>
        </p:nvGraphicFramePr>
        <p:xfrm>
          <a:off x="6217920" y="1280160"/>
          <a:ext cx="548640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kpi 431"/>
          <p:cNvSpPr/>
          <p:nvPr/>
        </p:nvSpPr>
        <p:spPr>
          <a:xfrm>
            <a:off x="457200" y="4572000"/>
            <a:ext cx="265176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548640" y="461772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431</a:t>
            </a:r>
            <a:endParaRPr lang="en-US" sz="30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516636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entradas en el registro</a:t>
            </a:r>
            <a:endParaRPr lang="en-US" sz="1100" dirty="0"/>
          </a:p>
        </p:txBody>
      </p:sp>
      <p:sp>
        <p:nvSpPr>
          <p:cNvPr id="9" name="kpi 191"/>
          <p:cNvSpPr/>
          <p:nvPr/>
        </p:nvSpPr>
        <p:spPr>
          <a:xfrm>
            <a:off x="3291840" y="4572000"/>
            <a:ext cx="265176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3383280" y="461772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191</a:t>
            </a:r>
            <a:endParaRPr lang="en-US" sz="3000" dirty="0"/>
          </a:p>
        </p:txBody>
      </p:sp>
      <p:sp>
        <p:nvSpPr>
          <p:cNvPr id="11" name="Text 7"/>
          <p:cNvSpPr txBox="1"/>
          <p:nvPr/>
        </p:nvSpPr>
        <p:spPr>
          <a:xfrm>
            <a:off x="3383280" y="516636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extractos literales con localizador</a:t>
            </a:r>
            <a:endParaRPr lang="en-US" sz="1100" dirty="0"/>
          </a:p>
        </p:txBody>
      </p:sp>
      <p:sp>
        <p:nvSpPr>
          <p:cNvPr id="12" name="kpi 225"/>
          <p:cNvSpPr/>
          <p:nvPr/>
        </p:nvSpPr>
        <p:spPr>
          <a:xfrm>
            <a:off x="6126480" y="4572000"/>
            <a:ext cx="265176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217920" y="461772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225</a:t>
            </a:r>
            <a:endParaRPr lang="en-US" sz="3000" dirty="0"/>
          </a:p>
        </p:txBody>
      </p:sp>
      <p:sp>
        <p:nvSpPr>
          <p:cNvPr id="14" name="Text 10"/>
          <p:cNvSpPr txBox="1"/>
          <p:nvPr/>
        </p:nvSpPr>
        <p:spPr>
          <a:xfrm>
            <a:off x="6217920" y="516636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pistas de buscador: no respaldan afirmaciones</a:t>
            </a:r>
            <a:endParaRPr lang="en-US" sz="1100" dirty="0"/>
          </a:p>
        </p:txBody>
      </p:sp>
      <p:sp>
        <p:nvSpPr>
          <p:cNvPr id="15" name="kpi 0"/>
          <p:cNvSpPr/>
          <p:nvPr/>
        </p:nvSpPr>
        <p:spPr>
          <a:xfrm>
            <a:off x="8961120" y="4572000"/>
            <a:ext cx="274320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9052560" y="461772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3000" dirty="0"/>
          </a:p>
        </p:txBody>
      </p:sp>
      <p:sp>
        <p:nvSpPr>
          <p:cNvPr id="17" name="Text 13"/>
          <p:cNvSpPr txBox="1"/>
          <p:nvPr/>
        </p:nvSpPr>
        <p:spPr>
          <a:xfrm>
            <a:off x="9052560" y="5166360"/>
            <a:ext cx="2560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libros y tesis leídos en texto completo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11247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respaldado se limita al rodamiento en general: contaminación, lubricación, ajustes, instalación y desalineación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14476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Fuente: Shanyavskiy y Soldatenkov (2022); Goode (1988); Lillelund et al. (2025); Kenworthy et al. (2023)</a:t>
            </a:r>
            <a:endParaRPr lang="en-US" sz="1000" dirty="0"/>
          </a:p>
        </p:txBody>
      </p:sp>
      <p:sp>
        <p:nvSpPr>
          <p:cNvPr id="4" name="kpi 90 %"/>
          <p:cNvSpPr/>
          <p:nvPr/>
        </p:nvSpPr>
        <p:spPr>
          <a:xfrm>
            <a:off x="457200" y="1280160"/>
            <a:ext cx="356616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32588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90 %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874520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de fallas prematuras de rodamientos de bolas de bombas, por cuatro causas (resumen de 1988, atribución del autor)</a:t>
            </a:r>
            <a:endParaRPr lang="en-US" sz="1100" dirty="0"/>
          </a:p>
        </p:txBody>
      </p:sp>
      <p:sp>
        <p:nvSpPr>
          <p:cNvPr id="7" name="kpi L10"/>
          <p:cNvSpPr/>
          <p:nvPr/>
        </p:nvSpPr>
        <p:spPr>
          <a:xfrm>
            <a:off x="4297680" y="1280160"/>
            <a:ext cx="356616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389120" y="132588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L10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4389120" y="1874520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vida que alcanza o supera el 90 % de la población, solo en condiciones convencionales</a:t>
            </a:r>
            <a:endParaRPr lang="en-US" sz="1100" dirty="0"/>
          </a:p>
        </p:txBody>
      </p:sp>
      <p:sp>
        <p:nvSpPr>
          <p:cNvPr id="10" name="kpi 0"/>
          <p:cNvSpPr/>
          <p:nvPr/>
        </p:nvSpPr>
        <p:spPr>
          <a:xfrm>
            <a:off x="8138160" y="1280160"/>
            <a:ext cx="356616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29600" y="132588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0" y="1874520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fuentes leídas sobre cavitación, sellos o recirculación</a:t>
            </a:r>
            <a:endParaRPr lang="en-US" sz="1100" dirty="0"/>
          </a:p>
        </p:txBody>
      </p:sp>
      <p:sp>
        <p:nvSpPr>
          <p:cNvPr id="13" name="tarjeta Causas de daño que listan las fuentes"/>
          <p:cNvSpPr/>
          <p:nvPr/>
        </p:nvSpPr>
        <p:spPr>
          <a:xfrm>
            <a:off x="457200" y="2560320"/>
            <a:ext cx="5577840" cy="3474720"/>
          </a:xfrm>
          <a:prstGeom prst="roundRect">
            <a:avLst>
              <a:gd name="adj" fmla="val 2105"/>
            </a:avLst>
          </a:prstGeom>
          <a:solidFill>
            <a:schemeClr val="bg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94360" y="265176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Causas de daño que listan las fuentes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94360" y="3063240"/>
            <a:ext cx="5303520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Contaminación y corrosión asociada</a:t>
            </a:r>
            <a:endParaRPr lang="en-US" sz="16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Mala lubricación o falla del lubricante</a:t>
            </a:r>
            <a:endParaRPr lang="en-US" sz="16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Ajustes inadecuados con sobrecalentamiento</a:t>
            </a:r>
            <a:endParaRPr lang="en-US" sz="16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Mala manipulación o instalación</a:t>
            </a:r>
            <a:endParaRPr lang="en-US" sz="16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Carga excesiva y desalineación</a:t>
            </a:r>
            <a:endParaRPr lang="en-US" sz="16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Desgaste y fretting</a:t>
            </a:r>
            <a:endParaRPr lang="en-US" sz="1600" dirty="0"/>
          </a:p>
        </p:txBody>
      </p:sp>
      <p:sp>
        <p:nvSpPr>
          <p:cNvPr id="16" name="tarjeta Límites"/>
          <p:cNvSpPr/>
          <p:nvPr/>
        </p:nvSpPr>
        <p:spPr>
          <a:xfrm>
            <a:off x="6217920" y="2560320"/>
            <a:ext cx="5486400" cy="3474720"/>
          </a:xfrm>
          <a:prstGeom prst="roundRect">
            <a:avLst>
              <a:gd name="adj" fmla="val 2105"/>
            </a:avLst>
          </a:prstGeom>
          <a:solidFill>
            <a:schemeClr val="bg2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355080" y="265176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Límites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355080" y="3063240"/>
            <a:ext cx="5212080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No hay estadística de la población de bombas</a:t>
            </a:r>
            <a:endParaRPr lang="en-US" sz="16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La cifra de 90 % es de un resumen y no trae base de datos</a:t>
            </a:r>
            <a:endParaRPr lang="en-US" sz="16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El efecto del prensaestopa en el rodamiento está solo como pista</a:t>
            </a:r>
            <a:endParaRPr lang="en-US" sz="16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Todo se presenta como hipótesis posible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11247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Cada hipótesis se explica con cinco porqués que van de la causa física a la humana y a la latente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14476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Fuente: Análisis del equipo con fuentes citadas (síntesis); a confirmar con registros del activo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108960"/>
                <a:gridCol w="3108960"/>
                <a:gridCol w="301752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Hipótesis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Causa física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Causa humana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Causa latente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12344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Lubricación inadecuada o falla del…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 se cumpliera, porque la película no separó los elementos rodantes ni evitó el contacto entre asperezas, a verificar con el lubricante retirado y las pistas.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 se cumpliera, porque tipo, cantidad o intervalo de relubricación no estaban ajustados a la condición de operación y la temperatura reales, de las que depende la salud del rodamiento.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 se cumpliera, porque la lubricación no se gestionó como modo de falla con indicador y verificación, y los indicadores en uso pierden señal al extenderse el defecto. Causa latente a confirmar con…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H2 Contaminación del rodamiento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 se cumpliera, porque la barrera del alojamiento no impidió el ingreso de partículas o humedad, o porque se introdujo durante la instalación o el engrase (a verificar).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 se cumpliera, porque se especificó y mantuvo para condiciones convencionales, o porque su deterioro no se detectó.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 se cumpliera, porque la selección y el plan de mantenimiento se apoyaron en la vida nominal, que cubre fatiga en condiciones convencionales, y no trataron la contaminación como modo de falla…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H5 Desalineación del eje y el soporte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 se cumpliera, porque el eje y el soporte quedaron fuera de la posición de diseño, a verificar con medición de alineación.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 se cumpliera, por falta de verificación de alineación al montar o tras intervenciones, o por pérdida de posición en servicio; sin fuente leída propia de bombas.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 se cumpliera, porque no hay requisito de verificar alineación en la puesta en servicio ni tras intervenciones, ni indicador que la vigile. Causa latente a confirmar con registros.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553212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Hay 11 hipótesis en total, todas posibles; los modos propios de la bomba sin fuente leída no entran como hipótesis.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11247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árbol y el Ishikawa separan el inicio del daño de su progreso sin detección; Mano de obra y Medio ambiente quedan sin datos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14476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Fuente: Árbol de fallas e Ishikawa del caso; clase de causa: física, humana o latente</a:t>
            </a:r>
            <a:endParaRPr lang="en-US" sz="1000" dirty="0"/>
          </a:p>
        </p:txBody>
      </p:sp>
      <p:sp>
        <p:nvSpPr>
          <p:cNvPr id="4" name="tarjeta Máquina  |  3 con respaldo, 3 síntesis"/>
          <p:cNvSpPr/>
          <p:nvPr/>
        </p:nvSpPr>
        <p:spPr>
          <a:xfrm>
            <a:off x="457200" y="1280160"/>
            <a:ext cx="3657600" cy="2286000"/>
          </a:xfrm>
          <a:prstGeom prst="roundRect">
            <a:avLst>
              <a:gd name="adj" fmla="val 3200"/>
            </a:avLst>
          </a:prstGeom>
          <a:solidFill>
            <a:schemeClr val="bg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37160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Máquina  |  3 con respaldo, 3 síntesis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1783080"/>
            <a:ext cx="338328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Ajuste inadecuado o apretado entre rodamiento, eje y alojamiento.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Desalineación del rodamiento o del eje respecto del soporte.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Carga radial o axial sobre el rodamiento mayor que la de diseño. CONDICION A VERIFICAR.</a:t>
            </a:r>
            <a:endParaRPr lang="en-US" sz="1100" dirty="0"/>
          </a:p>
        </p:txBody>
      </p:sp>
      <p:sp>
        <p:nvSpPr>
          <p:cNvPr id="7" name="tarjeta Método  |  0 con respaldo, 3 síntesis"/>
          <p:cNvSpPr/>
          <p:nvPr/>
        </p:nvSpPr>
        <p:spPr>
          <a:xfrm>
            <a:off x="4251960" y="1280160"/>
            <a:ext cx="3657600" cy="2286000"/>
          </a:xfrm>
          <a:prstGeom prst="roundRect">
            <a:avLst>
              <a:gd name="adj" fmla="val 3200"/>
            </a:avLst>
          </a:prstGeom>
          <a:solidFill>
            <a:schemeClr val="bg2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389120" y="137160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Método  |  0 con respaldo, 3 síntesis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4389120" y="1783080"/>
            <a:ext cx="338328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Práctica de relubricación (tipo, cantidad, intervalo) no ajustada a las condiciones re…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Montaje e instalación del rodamiento sin control suficiente (manipulación previa, méto…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Selección del rodamiento solo por vida nominal, que cubre fatiga de contacto en condic…</a:t>
            </a:r>
            <a:endParaRPr lang="en-US" sz="1100" dirty="0"/>
          </a:p>
        </p:txBody>
      </p:sp>
      <p:sp>
        <p:nvSpPr>
          <p:cNvPr id="10" name="tarjeta Material  |  2 con respaldo, 2 síntesis"/>
          <p:cNvSpPr/>
          <p:nvPr/>
        </p:nvSpPr>
        <p:spPr>
          <a:xfrm>
            <a:off x="8046720" y="1280160"/>
            <a:ext cx="3657600" cy="2286000"/>
          </a:xfrm>
          <a:prstGeom prst="roundRect">
            <a:avLst>
              <a:gd name="adj" fmla="val 3200"/>
            </a:avLst>
          </a:prstGeom>
          <a:solidFill>
            <a:schemeClr val="bg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83880" y="137160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Material  |  2 con respaldo, 2 síntesis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8183880" y="1783080"/>
            <a:ext cx="338328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Lubricante degradado, inadecuado o incompatible con la aplicación.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Corrosión y desgaste de las superficies del rodamiento.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Fatiga normal del material (descascarado): fin de vida esperado y no falla prematura.</a:t>
            </a:r>
            <a:endParaRPr lang="en-US" sz="1100" dirty="0"/>
          </a:p>
        </p:txBody>
      </p:sp>
      <p:sp>
        <p:nvSpPr>
          <p:cNvPr id="13" name="tarjeta Mano de obra  |  SIN DATOS PARA ARMARLO"/>
          <p:cNvSpPr/>
          <p:nvPr/>
        </p:nvSpPr>
        <p:spPr>
          <a:xfrm>
            <a:off x="457200" y="3703320"/>
            <a:ext cx="3657600" cy="2286000"/>
          </a:xfrm>
          <a:prstGeom prst="roundRect">
            <a:avLst>
              <a:gd name="adj" fmla="val 3200"/>
            </a:avLst>
          </a:prstGeom>
          <a:solidFill>
            <a:schemeClr val="bg2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94360" y="379476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Mano de obra  |  SIN DATOS PARA ARMARLO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594360" y="4206240"/>
            <a:ext cx="338328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Datos que faltan: ver el informe HTML</a:t>
            </a:r>
            <a:endParaRPr lang="en-US" sz="1100" dirty="0"/>
          </a:p>
        </p:txBody>
      </p:sp>
      <p:sp>
        <p:nvSpPr>
          <p:cNvPr id="16" name="tarjeta Medición  |  3 con respaldo, 2 síntesis"/>
          <p:cNvSpPr/>
          <p:nvPr/>
        </p:nvSpPr>
        <p:spPr>
          <a:xfrm>
            <a:off x="4251960" y="3703320"/>
            <a:ext cx="3657600" cy="2286000"/>
          </a:xfrm>
          <a:prstGeom prst="roundRect">
            <a:avLst>
              <a:gd name="adj" fmla="val 3200"/>
            </a:avLst>
          </a:prstGeom>
          <a:solidFill>
            <a:schemeClr val="bg2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389120" y="379476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Medición  |  3 con respaldo, 2 síntesis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389120" y="4206240"/>
            <a:ext cx="338328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Kurtosis usada como indicador único: no es monótona con el avance del daño.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Umbrales de kurtosis 3 y 5 sin sustento hallado.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Etapas tempranas de degradación solo detectables con sensores especializados o con aná…</a:t>
            </a:r>
            <a:endParaRPr lang="en-US" sz="1100" dirty="0"/>
          </a:p>
        </p:txBody>
      </p:sp>
      <p:sp>
        <p:nvSpPr>
          <p:cNvPr id="19" name="tarjeta Medio ambiente  |  SIN DATOS PARA ARMARLO"/>
          <p:cNvSpPr/>
          <p:nvPr/>
        </p:nvSpPr>
        <p:spPr>
          <a:xfrm>
            <a:off x="8046720" y="3703320"/>
            <a:ext cx="3657600" cy="2286000"/>
          </a:xfrm>
          <a:prstGeom prst="roundRect">
            <a:avLst>
              <a:gd name="adj" fmla="val 3200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183880" y="379476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Medio ambiente  |  SIN DATOS PARA ARMARLO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8183880" y="4206240"/>
            <a:ext cx="338328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Datos que faltan: ver el informe HTML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11247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FMECA lista 7 modos de falla del rodamiento; el aporte del prensaestopa queda como vacío con la pista por leer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14476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Fuente: FMECA del caso; severidad, ocurrencia y detección: SIN DATOS PARA ARMARLO</a:t>
            </a:r>
            <a:endParaRPr lang="en-US" sz="1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2926080"/>
                <a:gridCol w="3749040"/>
                <a:gridCol w="393192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Modo de falla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Detección propuesta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Tarea RCM propuesta (síntesis)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FM1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Fatiga de contacto por rodadura del rodamiento (descascarado…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Análisis de envolvente (alta sensibilidad, inmunidad al ruido, identifica tipo y ubicación del defecto) y frecuencias BPFO, BPFI, BSF, FTF…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 condición (on-condition) (consecuencia: A confirmar; si la falla es evidente y detiene el bombeo, operacional; seguridad o ambiente…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FM2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Desgaste del rodamiento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evidencia no asocia una técnica específica al desgaste; por síntesis, tendencia de vibración combinada con aceite o grasa y termografía…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 condición; restauración solo si hay edad identificable (consecuencia: A confirmar). El desgaste es el candidato clásico a restauración o…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FM3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Corrosión del rodamiento por contaminación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Análisis de aceite o grasa y termografía como complemento de la vibración (E-8003); la evidencia no da técnica específica para corrosión.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Rediseño (protección del soporte) y en condición (consecuencia: A confirmar). Si la contaminación domina, atacar la causa suele ser más…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FM4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Falla de lubricación del rodamiento (lubricante inadecuado,…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Análisis de aceite o grasa y termografía, combinados con vibración (E-8003). Las etapas ultrasónicas tempranas solo son detectables con…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 condición y, si se identifica el mecanismo, tarea programada de lubricación (consecuencia: A confirmar). La relubricación previene un…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FM5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Sobrecalentamiento del rodamiento por ajuste inadecuado en…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Termografía combinada con vibración (E-8003); la evidencia no da umbrales de temperatura.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Rediseño o corrección del procedimiento de montaje; en condición por temperatura (consecuencia: A confirmar). La causa está en la…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FM6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Daño del rodamiento por desalineación o carga excesiva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Vibración con análisis espectral (E-8001, E-8008) y termografía (E-8003); no hay firma específica de desalineación en la evidencia leída.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Corrección de alineación o rediseño; en condición (consecuencia: A confirmar). Corregir la causa reduce la ocurrencia; la inspección en…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FM7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Daño del rodamiento por manipulación o instalación deficiente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evidencia no da técnica; revisar el historial de órdenes tras reemplazos (requiere datos del activo).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Rediseño de procedimiento (consecuencia: A confirmar). La causa es de método de trabajo; mejorar el procedimiento y verificar con el…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11247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propio del prensaestopa no se pudo respaldar: cada tema indica la pista que habría que leer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14476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Fuente: Pistas SOLO-SNIPPET del registro; ninguna respalda una afirmación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2468880"/>
                <a:gridCol w="548640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Modo o tema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Estado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Qué habría que leer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Fuga de la empaquetadura que llega al soporte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 DATOS PARA ARMARLO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Guías de bombas con prensaestopa y drenaje del soporte (contenido comercial, sin abrir)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Agua en el lubricante y vida del rodamiento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 DATOS PARA ARMARLO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Artículo de acceso abierto de 2020 sobre agua y fatiga de contacto; Cantley (1977), sin verificar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Desgaste de la camisa del eje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 DATOS PARA ARMARLO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Artículo de revista minera y estudio de simulación de desgaste de empaquetadura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Sobreapriete: fricción, calor y flexión del eje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 DATOS PARA ARMARLO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Guías de mantenimiento del prensaestopa (pistas) y ensayos de torque de empaquetadura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Fuga permitida (gotas por minuto)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 DATOS PARA ARMARLO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Las pistas de fabricantes difieren entre sí; ninguna se usa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Empaquetadura frente a sello mecánico: vida y costo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 DATOS PARA ARMARLO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Tesis chilenas y mexicanas listadas, sin abrir; los costos de planta los aporta la persona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548640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Las cifras de reparto que traen las pistas (sellos 60 % a 69 %, rodamientos 22 % a 45 %) se contradicen entre sí y no se usan.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11247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Hoy no se justifica ningún modelo entrenado: procede definir, medir una línea base y detectar anomalías en sombra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14476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Fuente: Estrategia del caso (síntesis del equipo); sin datos propios ni etiquetas; resultados de bancos de rodamientos no se trasladan</a:t>
            </a:r>
            <a:endParaRPr lang="en-US" sz="1000" dirty="0"/>
          </a:p>
        </p:txBody>
      </p:sp>
      <p:sp>
        <p:nvSpPr>
          <p:cNvPr id="4" name="tarjeta 0. Definición previa (sin modelo)"/>
          <p:cNvSpPr/>
          <p:nvPr/>
        </p:nvSpPr>
        <p:spPr>
          <a:xfrm>
            <a:off x="457200" y="1280160"/>
            <a:ext cx="3657600" cy="2286000"/>
          </a:xfrm>
          <a:prstGeom prst="roundRect">
            <a:avLst>
              <a:gd name="adj" fmla="val 3200"/>
            </a:avLst>
          </a:prstGeom>
          <a:solidFill>
            <a:schemeClr val="bg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37160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0. Definición previa (sin modelo)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1783080"/>
            <a:ext cx="338328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Fijar con el negocio el objetivo (detección, diagnóstico o RUL), el horizonte H y el costo de falso negativo frente a falso positivo. Definir qué es falla funcional de la bomba (y por modo: rodamiento, sello, impulsor, hidráulica) y qué es censura (retiro preventivo, cambio por otra causa, bomba…</a:t>
            </a:r>
            <a:endParaRPr lang="en-US" sz="1200" dirty="0"/>
          </a:p>
        </p:txBody>
      </p:sp>
      <p:sp>
        <p:nvSpPr>
          <p:cNvPr id="7" name="tarjeta 1. Línea base por activo y por punto de operación"/>
          <p:cNvSpPr/>
          <p:nvPr/>
        </p:nvSpPr>
        <p:spPr>
          <a:xfrm>
            <a:off x="4251960" y="1280160"/>
            <a:ext cx="3657600" cy="2286000"/>
          </a:xfrm>
          <a:prstGeom prst="roundRect">
            <a:avLst>
              <a:gd name="adj" fmla="val 3200"/>
            </a:avLst>
          </a:prstGeom>
          <a:solidFill>
            <a:schemeClr val="bg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389120" y="137160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1. Línea base por activo y por punto de operación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4389120" y="1783080"/>
            <a:ext cx="338328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Medir cada bomba en buen estado y construir su referencia propia por punto de operación (RMS, espectro de envolvente en los rodamientos, temperatura y corriente del motor), con carta de control o tendencia. Las variables hidráulicas se definen con un experto: SIN DATOS PARA ARMARLO por falta de…</a:t>
            </a:r>
            <a:endParaRPr lang="en-US" sz="1200" dirty="0"/>
          </a:p>
        </p:txBody>
      </p:sp>
      <p:sp>
        <p:nvSpPr>
          <p:cNvPr id="10" name="tarjeta 2. Detección de anomalías sin etiquetas, en sombra"/>
          <p:cNvSpPr/>
          <p:nvPr/>
        </p:nvSpPr>
        <p:spPr>
          <a:xfrm>
            <a:off x="8046720" y="1280160"/>
            <a:ext cx="3657600" cy="2286000"/>
          </a:xfrm>
          <a:prstGeom prst="roundRect">
            <a:avLst>
              <a:gd name="adj" fmla="val 3200"/>
            </a:avLst>
          </a:prstGeom>
          <a:solidFill>
            <a:schemeClr val="bg2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83880" y="137160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2. Detección de anomalías sin etiquetas, en sombra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8183880" y="1783080"/>
            <a:ext cx="338328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Entrenar solo con datos normales del propio activo (el diseño sin muestras anómalas de los retos acústicos y del ensayo de campo) y operar en sombra, sin actuar, registrando cada alerta con su inspección posterior. Partición cronológica por activo, descartando ventanas que cruzan el límite entre…</a:t>
            </a:r>
            <a:endParaRPr lang="en-US" sz="1200" dirty="0"/>
          </a:p>
        </p:txBody>
      </p:sp>
      <p:sp>
        <p:nvSpPr>
          <p:cNvPr id="13" name="tarjeta 3. Diagnóstico (tipo y ubicación del defecto)"/>
          <p:cNvSpPr/>
          <p:nvPr/>
        </p:nvSpPr>
        <p:spPr>
          <a:xfrm>
            <a:off x="457200" y="3703320"/>
            <a:ext cx="3657600" cy="2286000"/>
          </a:xfrm>
          <a:prstGeom prst="roundRect">
            <a:avLst>
              <a:gd name="adj" fmla="val 3200"/>
            </a:avLst>
          </a:prstGeom>
          <a:solidFill>
            <a:schemeClr val="bg2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94360" y="379476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3. Diagnóstico (tipo y ubicación del defecto)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594360" y="4206240"/>
            <a:ext cx="338328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Diagnóstico por reglas: envolvente y frecuencias características para los rodamientos de bomba y motor, y corriente del motor para separar causa mecánica de eléctrica, contrastado con la inspección del componente desmontado. Un clasificador supervisado solo con fallas etiquetadas del propio activo…</a:t>
            </a:r>
            <a:endParaRPr lang="en-US" sz="1200" dirty="0"/>
          </a:p>
        </p:txBody>
      </p:sp>
      <p:sp>
        <p:nvSpPr>
          <p:cNvPr id="16" name="tarjeta 4. Pronóstico (RUL) solo con tiempos hasta la falla"/>
          <p:cNvSpPr/>
          <p:nvPr/>
        </p:nvSpPr>
        <p:spPr>
          <a:xfrm>
            <a:off x="4251960" y="3703320"/>
            <a:ext cx="3657600" cy="2286000"/>
          </a:xfrm>
          <a:prstGeom prst="roundRect">
            <a:avLst>
              <a:gd name="adj" fmla="val 3200"/>
            </a:avLst>
          </a:prstGeom>
          <a:solidFill>
            <a:schemeClr val="bg2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389120" y="379476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4. Pronóstico (RUL) solo con tiempos hasta la falla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389120" y="4206240"/>
            <a:ext cx="338328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Pasar a RUL únicamente cuando existan tiempos hasta la falla del propio activo o flota. Primero supervivencia clásica con censura (Kaplan-Meier, Weibull con tools/reliability), tratando la censura como tal y no como RUL = 0. Después evaluar CoxPH o bosque de supervivencia como candidatos de método.…</a:t>
            </a:r>
            <a:endParaRPr lang="en-US" sz="1200" dirty="0"/>
          </a:p>
        </p:txBody>
      </p:sp>
      <p:sp>
        <p:nvSpPr>
          <p:cNvPr id="19" name="tarjeta 5. Operación, deriva y reentrenamiento"/>
          <p:cNvSpPr/>
          <p:nvPr/>
        </p:nvSpPr>
        <p:spPr>
          <a:xfrm>
            <a:off x="8046720" y="3703320"/>
            <a:ext cx="3657600" cy="2286000"/>
          </a:xfrm>
          <a:prstGeom prst="roundRect">
            <a:avLst>
              <a:gd name="adj" fmla="val 3200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183880" y="379476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5. Operación, deriva y reentrenamiento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8183880" y="4206240"/>
            <a:ext cx="338328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Piloto en sombra antes de actuar. Plan de deriva por cambio de punto de operación, de rodamiento, de impulsor o de lubricante; recalibrar en planta, no importar parámetros de banco. Reentrenar solo con aprobación humana y guardar script, semilla y versiones.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11247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hay datos abiertos de bombas con prensaestopa con tiempos hasta la falla; solo audio de bombas y bancos de rodamientos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14476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Fuente: Registro de datos abiertos del caso; MIMII (Purohit et al., 2019) y reempaquetados</a:t>
            </a:r>
            <a:endParaRPr lang="en-US" sz="1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3566160"/>
                <a:gridCol w="2194560"/>
                <a:gridCol w="2560320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Conjunto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Contenido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Aptitud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Límite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MIMII y reempaquetados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Sonidos de bombas y otras máquinas, normal y con anomalías provocadas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Diagnóstico acústico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 vibración, presión ni caudal; no define la bomba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Conjuntos de rodamientos a la falla de banco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XJTU-SY (15), PRONOSTIA (16) y Paderborn (17) rodamientos de bolas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RUL y diagnóstico de rodamientos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 bomba ni prensaestopa; etiquetas de RUL construidas por los autores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Rodamientos a la falla de banco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 rodamientos de bolas con carga y velocidad variables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Analogía de vida del rodamiento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es bomba ni campo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Vida de bombas con censura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se encontró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Ninguna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Weibull y RUL de la bomba no son admisibles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502920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Sin tiempos hasta la falla no se ajusta distribución de vida; lo primero es reunir el historial de fallas con fechas y censura.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11247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 identificaron 62 normas y guías; las de empaquetadura tienen ediciones en conflicto y todas están pendientes de verificación oficial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14476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Fuente: Resúmenes de buscador (SOLO-SNIPPET); ninguna página oficial pudo abrirse</a:t>
            </a:r>
            <a:endParaRPr lang="en-US" sz="1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280160"/>
          <a:ext cx="512064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1280160"/>
          <a:ext cx="594360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32918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 (según resumen)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Uso y estado visto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API 610 (12.ª ed., 2021) e ISO 13709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Bombas centrífugas; ya no son equivalentes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 16752 e ISO 3069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Ensayo de empaquetaduras y cavidades; edición no verificada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API 682 e ISO 21049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Sellos; estado en conflicto en ISO 21049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ISO 20816-1 y -3; ANSI/HI 9.6.4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Vibración; ISO 10816-1 está retirada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ISO 281 e ISO 15243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Vida L10 y modos de falla de rodamientos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ISO 13373, 17359, 13379-1, 13381-1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Monitoreo, diagnóstico y pronóstico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ISO 14224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Datos de falla (sector petróleo y gas)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ANSI/HI 9.6.3 y 9.6.5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Márgenes de operación; edición en conflicto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11247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Siete brechas impiden pasar de hipótesis a conclusiones; cada una indica qué la cerraría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14476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Fuente: Dossier del caso, secciones SIN DATOS PARA ARMARLO</a:t>
            </a:r>
            <a:endParaRPr lang="en-US" sz="10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2560320"/>
                <a:gridCol w="484632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Brecha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Estado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Qué la cerraría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Literatura de prensaestopa y empaquetadura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 DATOS PARA ARMARLO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Habilitar dominios académicos y de fabricantes o aportar PDF de tesis y artículos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Historial de fallas con fuga y ajuste del prensaestopa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 DATOS PARA ARMARLO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Órdenes de trabajo con fechas, causa, definición de falla y censura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Weibull y punto óptimo de reemplazo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 DATOS PARA ARMARLO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Tiempos hasta la falla y costos de falla y reemplazo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 real de modos de falla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 DATOS PARA ARMARLO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Leer las fuentes con reparto por componente (hoy pistas contradictorias)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Agua en el soporte: señales y umbrales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 DATOS PARA ARMARLO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Leer el trabajo de vibración y aceite para agua en rodamientos (solo título visto)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Severidad, ocurrencia y detección del FMECA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 DATOS PARA ARMARLO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Panel de expertos con el historial del activo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Citas, cuartiles y verificación de normas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 DATOS PARA ARMARLO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Acceso a bases bibliográficas y a las páginas de los organismos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11247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Propuesta en tres horizontes: abrir las fuentes y confirmar causas, medir y recién entonces modelar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14476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Fuente: Propuesta del equipo (síntesis); requiere validación y datos propios</a:t>
            </a:r>
            <a:endParaRPr lang="en-US" sz="1000" dirty="0"/>
          </a:p>
        </p:txBody>
      </p:sp>
      <p:sp>
        <p:nvSpPr>
          <p:cNvPr id="4" name="tarjeta Inmediato: abrir y confirmar"/>
          <p:cNvSpPr/>
          <p:nvPr/>
        </p:nvSpPr>
        <p:spPr>
          <a:xfrm>
            <a:off x="457200" y="1280160"/>
            <a:ext cx="3657600" cy="4663440"/>
          </a:xfrm>
          <a:prstGeom prst="roundRect">
            <a:avLst>
              <a:gd name="adj" fmla="val 2000"/>
            </a:avLst>
          </a:prstGeom>
          <a:solidFill>
            <a:schemeClr val="bg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37160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Inmediato: abrir y confirmar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1783080"/>
            <a:ext cx="3383280" cy="4069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Habilitar dominios o aportar PDF de tesis y artículos de prensaestopa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Repetir los cinco frentes con acceso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Inspeccionar agua en el lubricante, camisa del eje y huella del rodamiento retirado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Medir alineación del eje y del soporte</a:t>
            </a:r>
            <a:endParaRPr lang="en-US" sz="1500" dirty="0"/>
          </a:p>
        </p:txBody>
      </p:sp>
      <p:sp>
        <p:nvSpPr>
          <p:cNvPr id="7" name="tarjeta Corto plazo: medir"/>
          <p:cNvSpPr/>
          <p:nvPr/>
        </p:nvSpPr>
        <p:spPr>
          <a:xfrm>
            <a:off x="4297680" y="1280160"/>
            <a:ext cx="3657600" cy="4663440"/>
          </a:xfrm>
          <a:prstGeom prst="roundRect">
            <a:avLst>
              <a:gd name="adj" fmla="val 2000"/>
            </a:avLst>
          </a:prstGeom>
          <a:solidFill>
            <a:schemeClr val="bg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434840" y="137160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Corto plazo: medir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4434840" y="1783080"/>
            <a:ext cx="3383280" cy="4069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Línea base por punto de operación con vibración, temperatura y corriente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Bitácora de intervenciones con el mismo punto de medición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Detección de anomalías en sombra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Panel de expertos para S, O y D</a:t>
            </a:r>
            <a:endParaRPr lang="en-US" sz="1500" dirty="0"/>
          </a:p>
        </p:txBody>
      </p:sp>
      <p:sp>
        <p:nvSpPr>
          <p:cNvPr id="10" name="tarjeta Mediano plazo: decidir"/>
          <p:cNvSpPr/>
          <p:nvPr/>
        </p:nvSpPr>
        <p:spPr>
          <a:xfrm>
            <a:off x="8138160" y="1280160"/>
            <a:ext cx="3566160" cy="4663440"/>
          </a:xfrm>
          <a:prstGeom prst="roundRect">
            <a:avLst>
              <a:gd name="adj" fmla="val 2051"/>
            </a:avLst>
          </a:prstGeom>
          <a:solidFill>
            <a:schemeClr val="bg2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75320" y="137160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Mediano plazo: decidir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8275320" y="1783080"/>
            <a:ext cx="3291840" cy="4069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Con tiempos hasta la falla: supervivencia con censura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Con costos: LCC y reemplazo por edad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Diagnóstico supervisado solo con fallas etiquetadas propias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Recalibrar en planta, no importar parámetros de banco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11247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Cuatro decisiones de la persona desbloquean el análisis de bombas con prensaestopa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14476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Fuente: Preguntas finales del equipo</a:t>
            </a:r>
            <a:endParaRPr lang="en-US" sz="1000" dirty="0"/>
          </a:p>
        </p:txBody>
      </p:sp>
      <p:sp>
        <p:nvSpPr>
          <p:cNvPr id="4" name="decisión 1"/>
          <p:cNvSpPr/>
          <p:nvPr/>
        </p:nvSpPr>
        <p:spPr>
          <a:xfrm>
            <a:off x="457200" y="1280160"/>
            <a:ext cx="5532120" cy="2286000"/>
          </a:xfrm>
          <a:prstGeom prst="roundRect">
            <a:avLst>
              <a:gd name="adj" fmla="val 3200"/>
            </a:avLst>
          </a:prstGeom>
          <a:solidFill>
            <a:schemeClr val="bg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número 1"/>
          <p:cNvSpPr/>
          <p:nvPr/>
        </p:nvSpPr>
        <p:spPr>
          <a:xfrm>
            <a:off x="640080" y="1463040"/>
            <a:ext cx="548640" cy="54864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463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1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1371600" y="1463040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¿Habilita los dominios académicos?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240280"/>
            <a:ext cx="51663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arXiv directo, Crossref, MDPI, Frontiers, Springer, repositorios universitarios y organismos de normas permitirían leer la literatura de empaquetaduras y de agua en rodamientos.</a:t>
            </a:r>
            <a:endParaRPr lang="en-US" sz="1400" dirty="0"/>
          </a:p>
        </p:txBody>
      </p:sp>
      <p:sp>
        <p:nvSpPr>
          <p:cNvPr id="9" name="decisión 2"/>
          <p:cNvSpPr/>
          <p:nvPr/>
        </p:nvSpPr>
        <p:spPr>
          <a:xfrm>
            <a:off x="6172200" y="1280160"/>
            <a:ext cx="5532120" cy="2286000"/>
          </a:xfrm>
          <a:prstGeom prst="roundRect">
            <a:avLst>
              <a:gd name="adj" fmla="val 3200"/>
            </a:avLst>
          </a:prstGeom>
          <a:solidFill>
            <a:schemeClr val="bg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número 2"/>
          <p:cNvSpPr/>
          <p:nvPr/>
        </p:nvSpPr>
        <p:spPr>
          <a:xfrm>
            <a:off x="6355080" y="1463040"/>
            <a:ext cx="548640" cy="548640"/>
          </a:xfrm>
          <a:prstGeom prst="ellipse">
            <a:avLst/>
          </a:prstGeom>
          <a:solidFill>
            <a:schemeClr val="accent2"/>
          </a:solidFill>
          <a:ln w="6350">
            <a:solidFill>
              <a:schemeClr val="accent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355080" y="1463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2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7086600" y="1463040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¿Aporta PDF de tesis o artículos de prensaestopa?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6355080" y="2240280"/>
            <a:ext cx="51663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Se registran como datos aportados y se leen completos, sin esperar a los dominios.</a:t>
            </a:r>
            <a:endParaRPr lang="en-US" sz="1400" dirty="0"/>
          </a:p>
        </p:txBody>
      </p:sp>
      <p:sp>
        <p:nvSpPr>
          <p:cNvPr id="14" name="decisión 3"/>
          <p:cNvSpPr/>
          <p:nvPr/>
        </p:nvSpPr>
        <p:spPr>
          <a:xfrm>
            <a:off x="457200" y="3703320"/>
            <a:ext cx="5532120" cy="2286000"/>
          </a:xfrm>
          <a:prstGeom prst="roundRect">
            <a:avLst>
              <a:gd name="adj" fmla="val 3200"/>
            </a:avLst>
          </a:prstGeom>
          <a:solidFill>
            <a:schemeClr val="bg2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5" name="número 3"/>
          <p:cNvSpPr/>
          <p:nvPr/>
        </p:nvSpPr>
        <p:spPr>
          <a:xfrm>
            <a:off x="640080" y="3886200"/>
            <a:ext cx="548640" cy="548640"/>
          </a:xfrm>
          <a:prstGeom prst="ellipse">
            <a:avLst/>
          </a:prstGeom>
          <a:solidFill>
            <a:schemeClr val="accent3"/>
          </a:solidFill>
          <a:ln w="6350">
            <a:solidFill>
              <a:schemeClr val="accent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3886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3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1371600" y="3886200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¿Aporta el historial de fallas de sus bombas?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4663440"/>
            <a:ext cx="51663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Fechas, horas, causa y definición de falla permiten Weibull con censura y reemplazo por edad.</a:t>
            </a:r>
            <a:endParaRPr lang="en-US" sz="1400" dirty="0"/>
          </a:p>
        </p:txBody>
      </p:sp>
      <p:sp>
        <p:nvSpPr>
          <p:cNvPr id="19" name="decisión 4"/>
          <p:cNvSpPr/>
          <p:nvPr/>
        </p:nvSpPr>
        <p:spPr>
          <a:xfrm>
            <a:off x="6172200" y="3703320"/>
            <a:ext cx="5532120" cy="2286000"/>
          </a:xfrm>
          <a:prstGeom prst="roundRect">
            <a:avLst>
              <a:gd name="adj" fmla="val 3200"/>
            </a:avLst>
          </a:prstGeom>
          <a:solidFill>
            <a:schemeClr val="bg2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0" name="número 4"/>
          <p:cNvSpPr/>
          <p:nvPr/>
        </p:nvSpPr>
        <p:spPr>
          <a:xfrm>
            <a:off x="6355080" y="3886200"/>
            <a:ext cx="548640" cy="548640"/>
          </a:xfrm>
          <a:prstGeom prst="ellipse">
            <a:avLst/>
          </a:prstGeom>
          <a:solidFill>
            <a:schemeClr val="accent4"/>
          </a:solidFill>
          <a:ln w="6350">
            <a:solidFill>
              <a:schemeClr val="accent4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355080" y="3886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4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7086600" y="3886200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¿Autoriza guardar el dossier en el historial?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6355080" y="4663440"/>
            <a:ext cx="51663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Ya está en historial/dossiers/bomba_prensaestopa_rodamientos/ de la rama de trabajo.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11247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Referencias principales en APA 7 (1 de 2)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14476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Fuente: Registro de evidencia del caso; enlaces completos en la pestaña Referencias del informe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188720"/>
            <a:ext cx="11247120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Lillelund, C. M., Pannullo, F., Jakobsen, M. O., Morante, M., &amp; Pedersen, C. F. (2025). RULSurv: A probabilistic survival-based method for early censoring-aware prediction of remaining useful life in ball bearings. arXiv 2405.01614 (cabecera del preprint: Expert Systems with Applications). https://arxiv.org/abs/2405.01614</a:t>
            </a:r>
            <a:endParaRPr lang="en-US" sz="1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Autor no identificado (s. f.). Real-Time Vibration-Based Bearing Fault Diagnosis Under Time-Varying Speed Conditions. arXiv 2311.18547 (preprint; autores y año no figuran en el texto leído). https://arxiv.org/abs/2311.18547</a:t>
            </a:r>
            <a:endParaRPr lang="en-US" sz="1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Goode, T. (1988). Preventing Early Failure of Pump Ball Bearings. Opflow, 14(4), 1-5. https://doi.org/10.1002/j.1551-8701.1988.tb00751.x</a:t>
            </a:r>
            <a:endParaRPr lang="en-US" sz="1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Shanyavskiy, A. A., &amp; Soldatenkov, A. P. (2022). Crack path and regularities for ball-bearing fracture in the very-high-cycle fatigue regime. Fatigue &amp; Fracture of Engineering Materials &amp; Structures, 45(11), 3378-3392. https://doi.org/10.1111/ffe.13782</a:t>
            </a:r>
            <a:endParaRPr lang="en-US" sz="1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Kenworthy, J., Hart, E., Stirling, J., Stock, A., Keller, J., Guo, Y., Brasseur, J., &amp; Evans, R. (2023). Wind turbine main bearing rating lives as determined by IEC 61400-1 and ISO 281: A critical review and exploratory case study. Wind Energy, 27(2), 179-197. https://doi.org/10.1002/we.2883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11247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Referencias principales en APA 7 (2 de 2)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14476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Fuente: Registro de evidencia del caso; enlaces completos en la pestaña Referencias del informe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188720"/>
            <a:ext cx="11247120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Lillelund, C. M., Pannullo, F., Jakobsen, M. O., Morante, M., &amp; Pedersen, C. F. (2024). RULSurv: A probabilistic survival-based method for early censoring-aware prediction of remaining useful life in ball bearings. arXiv. https://arxiv.org/abs/2405.01614</a:t>
            </a:r>
            <a:endParaRPr lang="en-US" sz="1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Jayaswal, P., Wadhwani, A. K., Mulchandani, K. B., &amp; Kaneko, Y. (2008). Machine Fault Signature Analysis. International Journal of Rotating Machinery, 2008(1). https://doi.org/10.1155/2008/583982</a:t>
            </a:r>
            <a:endParaRPr lang="en-US" sz="1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Burda, E. A., Zusman, G. V., Kudryavtseva, I. S., Naumenko, A. P., &amp; Nicoletti, R. (2022). An Overview of Vibration Analysis Techniques for the Fault Diagnostics of Rolling Bearings in Machinery. Shock and Vibration, 2022(1). https://doi.org/10.1155/2022/6136231</a:t>
            </a:r>
            <a:endParaRPr lang="en-US" sz="1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Purohit, H., Tanabe, R., Ichige, K., Endo, T., Nikaido, Y., Suefusa, K., &amp; Kawaguchi, Y. (2019). MIMII Dataset: Sound Dataset for Malfunctioning Industrial Machine Investigation and Inspection. arXiv:1909.09347; datos en Zenodo record 3384388 segun el resumen. https://arxiv.org/abs/1909.09347</a:t>
            </a:r>
            <a:endParaRPr lang="en-US" sz="1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Lillelund, C. M., Pannullo, F., Jakobsen, M. O., Morante, M., &amp; Pedersen, C. F. (2025). RULSurv: A probabilistic survival-based method for early censoring-aware prediction of remaining useful life in ball bearings. arXiv 2405.01614 (version publicada: Expert Systems with Applications, segun la cabecera del preprint). https://arxiv.org/abs/2405.01614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onfiabilidad baby">
  <a:themeElements>
    <a:clrScheme name="Confiabilidad baby">
      <a:dk1>
        <a:srgbClr val="22313F"/>
      </a:dk1>
      <a:lt1>
        <a:srgbClr val="FFFFFF"/>
      </a:lt1>
      <a:dk2>
        <a:srgbClr val="3E5871"/>
      </a:dk2>
      <a:lt2>
        <a:srgbClr val="EAF3F8"/>
      </a:lt2>
      <a:accent1>
        <a:srgbClr val="5B9FCF"/>
      </a:accent1>
      <a:accent2>
        <a:srgbClr val="6FB98D"/>
      </a:accent2>
      <a:accent3>
        <a:srgbClr val="F0B784"/>
      </a:accent3>
      <a:accent4>
        <a:srgbClr val="C8AAD6"/>
      </a:accent4>
      <a:accent5>
        <a:srgbClr val="86BCB6"/>
      </a:accent5>
      <a:accent6>
        <a:srgbClr val="ECD27A"/>
      </a:accent6>
      <a:hlink>
        <a:srgbClr val="3B7FB5"/>
      </a:hlink>
      <a:folHlink>
        <a:srgbClr val="7A6FA0"/>
      </a:folHlink>
    </a:clrScheme>
    <a:fontScheme name="Confiabilidad baby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Rodamientos de bombas con prensaestopa</dc:title>
  <dc:subject>PptxGenJS Presentation</dc:subject>
  <dc:creator>HOWK RIOS - CONFIABILIDAD</dc:creator>
  <cp:lastModifiedBy>HOWK RIOS - CONFIABILIDAD</cp:lastModifiedBy>
  <cp:revision>1</cp:revision>
  <dcterms:created xsi:type="dcterms:W3CDTF">2026-10-27T11:38:41Z</dcterms:created>
  <dcterms:modified xsi:type="dcterms:W3CDTF">2026-10-27T11:38:41Z</dcterms:modified>
</cp:coreProperties>
</file>